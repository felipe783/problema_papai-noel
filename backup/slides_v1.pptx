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(~15 s) Apresentar o grupo e o tema: o Problema do Papai Noel, um clássico de sincronização. Implementamos em C com pthreads, rodamos 25 execuções e vamos mostrar código, demonstração e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1] (~45 s) Noel dorme até ser acordado. Elfos só são atendidos em grupos de três, e um quarto elfo não pode entrar num grupo já formado. As nove renas precisam estar todas presentes para a viagem. Se as duas demandas estiverem prontas, a regra manda escolher as renas. Na versão finita há uma viagem e um pedido por elfo, e o programa termina quando tudo foi feito. Os tempos são fixos: elfos a partir de 10 ms, ajuda de 3 ms, viagem de 5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(~1 min) São 1 thread Noel, 9 renas e N elfos, todas criadas antes do primeiro join. Todo o estado é protegido por um único mutex. Noel dorme numa variável de condição com relógio monotônico e timeout de segurança. A nona rena e o terceiro elfo de cada grupo acordam Noel. O tempo só começa a contar depois do sinal de início comum. Os sleeps não sincronizam nada, só simulam as durações. Os eventos ficam em memória e só vão para CSV depois dos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(~1 min) O ponto-chave é que o terceiro elfo fecha o grupo e avança o ponteiro do grupo aberto na mesma seção crítica em que se inscreveu. Então o quarto elfo nunca enxerga o grupo fechado. Os grupos ganham um id e formam uma fila FIFO. Na decisão, Noel olha primeiro as renas. Não há deadlock: existe um único lock, toda espera reavalia o predicado e toda mudança de estado vem acompanhada de signal ou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(~30 s) Rodamos de verdade uma versão ingênua, que atende elfos primeiro. Os dois grupos estavam prontos quando a nona rena chegou, e Noel atendeu os dois antes das renas: o próprio programa contou duas violações de prioridade, e as renas esperaram mais de 6 ms em vez de microssegundos. O outro erro clássico, o quarto elfo invadir o grupo, é evitado porque o grupo fecha na mesma seção crítica em que o terceiro elfo se inscreve.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2] (~2 min) Rodar ao vivo: cd src &amp;&amp; ./simulacao --elfos 6 --renas-ms 30 --rep 1 --semente 11 --out ../dados/teste_prioridade/ --teste-prioridade. Neste modo Noel só é liberado quando as renas e pelo menos um grupo estão prontos, o que cria a disputa de propósito. A saída mostra disputa = SIM, primeira decisão = renas, 6 de 6 elfos e zero violações. Se der tempo, rodar também a referência (--elfos 6 --renas-ms 10) e mostrar os CSVs em dados/.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(~45 s) Primeiro gráfico: variamos o número de elfos com as renas chegando junto, 5 execuções por ponto. A vazão cresce porque os 10 ms iniciais e os 5 ms de viagem são um custo fixo, que se dilui quando há mais grupos. A fila FIFO atende os grupos sem pausa. Os valores ficaram cerca de 2% abaixo da previsão analítica, por causa da latência dos sleeps, e a variação entre repetições é bem menor que a diferença entre os 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(~45 s) Segundo gráfico: 6 elfos e a chegada das renas variando. Quando as renas chegam junto com os elfos, a viagem ocupa Noel de 10 a 15 ms, justamente enquanto o primeiro grupo se forma, e o p95 sobe para cerca de 5 ms. Antes ou depois, Noel está livre e a espera é só o tempo de completar o grupo, uns 2 ms. Ao lado, as renas são atendidas em dezenas de microssegundos: esse é o efeito da prioridade.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(~45 s) No G3, os dois grupos da referência têm praticamente o mesmo p95. Esperávamos que o segundo esperasse mais, mas como os grupos chegam a cada 3 ms e cada ajuda leva 3 ms, o atraso causado pela viagem se propaga sem acumular. O G4 mostra essa execução no tempo: a 9ª rena chega em 10 ms, a viagem vai até 15 ms, os grupos esperam na faixa hachurada e depois são atendidos em sequência.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[Integrante 3] (~45 s) Fechando: 25 de 25 execuções válidas, nenhuma violação e 300 execuções de estresse sem travar. As duas hipóteses se confirmaram. Como limitação, o cenário é dirigido pelo tempo, então a variação é pequena, e a latência dos timers entra nas medidas. Numa versão com demandas contínuas, a prioridade absoluta às renas pode deixar os elfos esperando sem limite; a solução seria aging ou uma cota. Obrigado, perguntas?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Problema do Papai Noel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Sincronização com pthreads: implementação, experimentos e 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Tema 11 · Sistemas Operacionais · Prof. Lucca Abbado Neres · FAG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[Integrante 1] · [Integrante 2] · [Integrante 3]</a:t>
            </a:r>
          </a:p>
        </p:txBody>
      </p:sp>
      <p:sp>
        <p:nvSpPr>
          <p:cNvPr id="5" name="Oval 4"/>
          <p:cNvSpPr/>
          <p:nvPr/>
        </p:nvSpPr>
        <p:spPr>
          <a:xfrm>
            <a:off x="859536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Noel</a:t>
            </a:r>
          </a:p>
        </p:txBody>
      </p:sp>
      <p:sp>
        <p:nvSpPr>
          <p:cNvPr id="7" name="Oval 6"/>
          <p:cNvSpPr/>
          <p:nvPr/>
        </p:nvSpPr>
        <p:spPr>
          <a:xfrm>
            <a:off x="964692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renas</a:t>
            </a:r>
          </a:p>
        </p:txBody>
      </p:sp>
      <p:sp>
        <p:nvSpPr>
          <p:cNvPr id="9" name="Oval 8"/>
          <p:cNvSpPr/>
          <p:nvPr/>
        </p:nvSpPr>
        <p:spPr>
          <a:xfrm>
            <a:off x="10698480" y="5257800"/>
            <a:ext cx="868680" cy="86868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144768"/>
            <a:ext cx="1051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elfos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O problema: duas demandas, um único Noel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737360"/>
            <a:ext cx="39319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Grupos de exatamente 3 elfos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484632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Cada elfo faz um pedido (versão finita)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O elfo i chega em 10 + i ms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Ajudar um grupo dura 3 ms e não pode ser interrompido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Nenhum elfo pode invadir um grupo fechado ou em atendimento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1691640"/>
            <a:ext cx="822960" cy="82296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737360"/>
            <a:ext cx="39319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Nove renas, uma viagem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84632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Chegam juntas: antes (5 ms), junto (10 ms) ou depois (30 ms)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A viagem só é preparada com as 9 renas (5 ms)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Prioridade: com as duas demandas prontas, Noel escolhe as renas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Calibri"/>
              </a:rPr>
              <a:t>•  O programa encerra quando a viagem e todos os grupos terminam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Solução: mutex, cond vars e fila de grupos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B31B2B"/>
                </a:solidFill>
                <a:latin typeface="Calibri"/>
              </a:rPr>
              <a:t>Noel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1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dorme em cv_noel (timedwait, CLOCK_MONOTONIC); decide com o mutex: renas primeiro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50876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D3A"/>
                </a:solidFill>
                <a:latin typeface="Calibri"/>
              </a:rPr>
              <a:t>Renas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9 threads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9ª grava t_nona e sinaliza Noel; esperam cv_renas até a viagem acabar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7160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50876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D3A"/>
                </a:solidFill>
                <a:latin typeface="Calibri"/>
              </a:rPr>
              <a:t>Elfos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9659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N threads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377440"/>
            <a:ext cx="31089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entram no grupo aberto; o 3º fecha o grupo, dá o id e sinaliza Noel; esperam cv_elfos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642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Sinal de início comum: a main espera todas as threads ficarem prontas, grava t0 e faz broadcast em cv_largada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Sem espera ocupada: os sleeps só simulam chegada, ajuda e viagem; toda a coordenação usa mutex e cond vars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Eventos em vetores na memória; os CSVs são gravados depois dos joins, e os mecanismos são destruídos no fim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Invariantes checadas na execução: grupo ≠ 3, viagem &lt; 9 renas, prioridade, interrupção, atendido 0 ou 2 vezes</a:t>
            </a:r>
          </a:p>
          <a:p>
            <a:pPr algn="l"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Timeout de segurança de 2000 ms: grava status "timeout" em vez de travar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Formação de grupos e decisão de Noel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3949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555555"/>
                </a:solidFill>
                <a:latin typeface="Courier New"/>
              </a:rPr>
              <a:t>// Elfo i (com o mutex)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g = grupo_aberto; inscreve em g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se g.n == 3: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    g.estado = PRONTO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    grupo_aberto++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    signal(cv_noel)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espera g == CONCLUÍDO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555555"/>
                </a:solidFill>
                <a:latin typeface="Courier New"/>
              </a:rPr>
              <a:t>// Noel (com o mutex)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renas_ok = renas == 9 e !viagem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elfos_ok = há grupo PRONTO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se renas_ok: preparar viagem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senão se elfos_ok: ajudar o próximo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1A1A"/>
                </a:solidFill>
                <a:latin typeface="Courier New"/>
              </a:rPr>
              <a:t>senão: timedwait(cv_noel)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D3A"/>
                </a:solidFill>
                <a:latin typeface="Calibri"/>
              </a:rPr>
              <a:t>Por que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57400"/>
            <a:ext cx="493776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Inscrever-se e fechar o grupo acontecem na mesma seção crítica: o 4º elfo já cai no grupo seguinte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Grupos têm id e são atendidos em FIFO, então não há starvation entre elfos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renas_ok é testado antes de elfos_ok, dentro do lock em que Noel decide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Noel simula a ajuda fora do lock, e ninguém além dele decide: nenhuma ajuda é interrompida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Sem deadlock: há um só lock, as esperas ficam em laços com predicado e cada mudança tem o seu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A solução ingênua falha: elfos antes das renas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17320"/>
          <a:ext cx="6583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120640"/>
              </a:tblGrid>
              <a:tr h="56170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 (ms)</a:t>
                      </a:r>
                    </a:p>
                  </a:txBody>
                  <a:tcPr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evento</a:t>
                      </a:r>
                    </a:p>
                  </a:txBody>
                  <a:tcPr>
                    <a:solidFill>
                      <a:srgbClr val="1F4D3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12,078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grupo 1 pronto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15,071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grupo 2 pronto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30,106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9ª rena chega: as duas demandas prontas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30,113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Noel ajuda o grupo 1  ✗ violação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33,188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B31B2B"/>
                          </a:solidFill>
                          <a:latin typeface="Calibri"/>
                        </a:rPr>
                        <a:t>Noel ajuda o grupo 2  ✗ violação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36,250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só agora prepara a viagem</a:t>
                      </a:r>
                    </a:p>
                  </a:txBody>
                  <a:tcPr>
                    <a:solidFill>
                      <a:srgbClr val="E6EFE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532120"/>
            <a:ext cx="6583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ourier New"/>
              </a:rPr>
              <a:t>Execução real: ./simulacao --elfos 6 --renas-ms 30 --teste-prioridade --ingenua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417320"/>
            <a:ext cx="4069080" cy="210312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08760"/>
            <a:ext cx="3749039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B31B2B"/>
                </a:solidFill>
                <a:latin typeface="Cambria"/>
              </a:rPr>
              <a:t>2 violações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14600"/>
            <a:ext cx="3749039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resposta às renas: 6,14 ms (contra 18 µs na solução correta)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749039"/>
            <a:ext cx="4069080" cy="2377440"/>
          </a:xfrm>
          <a:prstGeom prst="roundRect">
            <a:avLst>
              <a:gd name="adj" fmla="val 8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840480"/>
            <a:ext cx="3749039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F4D3A"/>
                </a:solidFill>
                <a:latin typeface="Calibri"/>
              </a:rPr>
              <a:t>Invasão (exemplo construído)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Com um contador simples, o elfo 3 incrementa para 4 antes de Noel acordar, e Noel atende 4 elfos. Evitado porque o grupo é fechado dentro do 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Demonstração: disputa real pela decisão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09960" cy="34290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$ ./simulacao --elfos 6 --renas-ms 30 --rep 1 --semente 11 --out ../dados/teste_prioridade/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--teste-prioridade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teste_E06_R30_rep1: status=ok T=41.927 ms concluidos=6/6 vazao=143.11 pedidos/s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espera_p95=25.766 ms resposta_renas=0.018 ms viol_prio=0 viol_regras=0 decisoes=3 (com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    disputa: 1) util_noel=27.1%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[teste-prioridade] disputa na 1a decisão (renas e grupo prontos): SIM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primeira decisão = renas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elfos atendidos = 6/6 -&gt;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violações (prioridade=0, regras=0) -&gt; OK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8FE3A8"/>
                </a:solidFill>
                <a:latin typeface="Courier New"/>
              </a:rPr>
              <a:t>[teste-prioridade] RESULTADO: PASSOU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E8E8E8"/>
                </a:solidFill>
                <a:latin typeface="Courier New"/>
              </a:rPr>
              <a:t>codigo_saida=0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74920"/>
            <a:ext cx="2971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Noel fica "atrasado": espera em cv_noel até as duas demandas ficarem prontas</a:t>
            </a:r>
          </a:p>
        </p:txBody>
      </p:sp>
      <p:sp>
        <p:nvSpPr>
          <p:cNvPr id="7" name="Oval 6"/>
          <p:cNvSpPr/>
          <p:nvPr/>
        </p:nvSpPr>
        <p:spPr>
          <a:xfrm>
            <a:off x="4297679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9" y="5074920"/>
            <a:ext cx="2971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Grupos prontos em 12 e 15 ms; 9ª rena em ~30 ms; a 1ª decisão é a viagem</a:t>
            </a:r>
          </a:p>
        </p:txBody>
      </p:sp>
      <p:sp>
        <p:nvSpPr>
          <p:cNvPr id="9" name="Oval 8"/>
          <p:cNvSpPr/>
          <p:nvPr/>
        </p:nvSpPr>
        <p:spPr>
          <a:xfrm>
            <a:off x="8046719" y="5166360"/>
            <a:ext cx="548640" cy="548640"/>
          </a:xfrm>
          <a:prstGeom prst="ellipse">
            <a:avLst/>
          </a:prstGeom>
          <a:solidFill>
            <a:srgbClr val="B3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19" y="5074920"/>
            <a:ext cx="297180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6/6 elfos atendidos, 0 violações, saída em dados/teste_prioridade/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Mais elfos, mais vazão: o custo fixo é diluído</a:t>
            </a:r>
          </a:p>
        </p:txBody>
      </p:sp>
      <p:pic>
        <p:nvPicPr>
          <p:cNvPr id="3" name="Picture 2" descr="G1_vazao_elf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5139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46304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1F4D3A"/>
                </a:solidFill>
                <a:latin typeface="Cambria"/>
              </a:rPr>
              <a:t>436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423160"/>
            <a:ext cx="3474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pedidos/s com 12 elfos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3108960"/>
            <a:ext cx="3474720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3 → 6 → 12 elfos: 163 → 281 → 436 pedidos/s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Previsão T ≈ 15 + 3·N/3 ms: hipótese confirmada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Diferenças &gt; 100 pedidos/s ≫ faixa mín–máx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Renas em 10 ms, 5 execuções por ponto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O preço da prioridade: renas junto atrasam o 1º grupo</a:t>
            </a:r>
          </a:p>
        </p:txBody>
      </p:sp>
      <p:pic>
        <p:nvPicPr>
          <p:cNvPr id="3" name="Picture 2" descr="G2_p95_re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863840" cy="3445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463040"/>
            <a:ext cx="292608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B31B2B"/>
                </a:solidFill>
                <a:latin typeface="Cambria"/>
              </a:rPr>
              <a:t>5,2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331720"/>
            <a:ext cx="2926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p95 com renas junto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017520"/>
            <a:ext cx="292608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Antes e depois: 2,1 ms (só a formação do grupo)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Resposta às renas: dezenas de µs em todos os casos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A1A1A"/>
                </a:solidFill>
                <a:latin typeface="Calibri"/>
              </a:rPr>
              <a:t>•  Hipótese confirmada; ~3 ms ≫ faixa &lt; 0,1 ms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•  6 elfos, 5 execuções por categoria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4D3A"/>
                </a:solidFill>
                <a:latin typeface="Cambria"/>
              </a:rPr>
              <a:t>Dentro da referência: o atraso se propaga sem crescer</a:t>
            </a:r>
          </a:p>
        </p:txBody>
      </p:sp>
      <p:pic>
        <p:nvPicPr>
          <p:cNvPr id="3" name="Picture 2" descr="G3_p95_gr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4572000" cy="3004457"/>
          </a:xfrm>
          <a:prstGeom prst="rect">
            <a:avLst/>
          </a:prstGeom>
        </p:spPr>
      </p:pic>
      <p:pic>
        <p:nvPicPr>
          <p:cNvPr id="4" name="Picture 3" descr="G4_linha_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25880"/>
            <a:ext cx="6309360" cy="2523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45720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G3: grupos 1 e 2 com p95 ≈ 5,1–5,2 ms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Os grupos chegam a cada 3 ms e cada ajuda dura 3 ms, então a fila não cresce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4069080"/>
            <a:ext cx="630936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G4: disputa real (E06_R10_rep1)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Os dois grupos ficam prontos durante a preparação da viagem e esperam sem interrompê-la; depois Noel fica ocupado sem pausa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Conclusões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25/25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execuções válidas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79" y="132588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79" y="23317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violações na matriz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9" y="1325880"/>
            <a:ext cx="34747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300/300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33172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execuções de estresse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548640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Conclusões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As regras valeram em todas as execuções: grupos de 3, renas primeiro, sem travamento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A vazão cresce com N; o p95 só sobe quando a viagem coincide com o 1º grupo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Numa versão contínua, a prioridade absoluta às renas pode causar starvation dos elfos (mitigação: aging/cota)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063240"/>
            <a:ext cx="539496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Limitações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Cenário quase determinístico: variação pequena entre repetições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Latência de timers e do SO (0,05–0,5 ms) entra nas medidas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•  p95 de 3 ou 6 amostras = máximo; sem TSan/Helgrind disponíveis na máquina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Tema 11 — Problema do Papai Noel · Sistemas Operacionais (FAG)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