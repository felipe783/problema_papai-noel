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[Integrante 1] (~10 s) Apresentar o grupo e o tema. Implementamos em C com pthreads, rodamos 25 execuções e vamos mostrar a lógica, a sincronização no código, a demonstração e os resultados. Slides marcados APOIO são para responder perguntas; numa fala de 8 minutos podem ser pulados.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[Integrante 1] (~15 s) Vamos dos fundamentos até os resultados. O ponto 3, solução, é o centro: é onde mostramos como o mutex e as variáveis de condição aparecem no código, com as linhas reais.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[Integrante 1] Transição: primeiro os conceitos que o professor vai cobrar.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[Integrante 1] (~40 s) Problema de sincronização: threads compartilham dados e a correção depende da ordem em que executam. Quem decide a ordem é o escalonador do SO, não nós. Por isso precisamos de exclusão mútua para a seção crítica e de uma forma de esperar eventos sem gastar CPU — e é o SO que tira a thread da CPU quando ela bloqueia e a acorda depois. Nossas threads são do mesmo processo, então compartilham a memória: tudo fica numa struct chamada Oficina.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[Integrante 1] (~40 s) Exemplo concreto do nosso código. renas_prontas++ parece uma operação, mas são três. Se duas renas leem 7 ao mesmo tempo, as duas gravam 8 e uma chegada se perde: o contador nunca chega a 9. No código, a rena trava o mutex na linha 23 de rena.c antes de incrementar na linha 28; a segunda rena bloqueia no lock até a primeira soltar.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[Integrante 1] (~40 s) Pergunta clássica: por que não basta um if com contador? Porque testar e agir são dois passos. Dois elfos podem ver n igual a 2, os dois passam no if e os dois escrevem na mesma posição: um quarto elfo invade o grupo. No nosso código o if existe, mas está dentro do mutex — teste, inscrição e fechamento do grupo acontecem sem soltar o lock. Uma flag feita à mão tem o mesmo problema e ainda gasta CPU.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[Integrante 2] (~45 s) Mutex é um cadeado com dono, para exclusão mútua. Semáforo é um contador: wait decrementa e bloqueia em zero, post incrementa; ele lembra os avisos e não tem dono. Variável de condição é uma fila de espera sem memória, sempre usada com um mutex e um predicado. Nossa implementação usa um mutex e quatro variáveis de condição — nenhum semáforo. Escolhemos cond var porque Noel precisa esperar 'nove renas ou um grupo' e decidir olhando as duas coisas juntas.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[Integrante 1] Transição para o problema.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[Integrante 1] (~45 s) Noel dorme até ser acordado. Elfos só são atendidos em grupos de três, e um quarto elfo não pode entrar num grupo já formado. As nove renas precisam estar todas presentes para a viagem. Se as duas demandas estiverem prontas, a regra manda escolher as renas. Relação com o SO: Noel é como uma CPU disputada por clientes com prioridades diferentes, e ele não interrompe uma tarefa em andamento — é um escalonador não preemptivo.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[Integrante 2] Transição: agora a parte central, a sincronização.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[Integrante 2] (~30 s) São 1 thread Noel, 9 renas e N elfos, todas criadas antes do primeiro join. Todas recebem um ponteiro para a mesma struct, a Oficina, que guarda todo o estado compartilhado: contador de renas, grupos, índices da fila de grupos, flags da viagem. A regra do projeto está escrita no código: todo campo dessa struct só é lido ou alterado com o mutex.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[Integrante 2] (~40 s) Esta tabela responde a 'onde nasce cada mecanismo'. O mutex é declarado em comum.h linha 82 e inicializado em main.c linha 131. As quatro variáveis de condição: cv_largada para o sinal de início, cv_noel onde Noel dorme, cv_elfos onde os elfos esperam a ajuda acabar e cv_renas onde as renas esperam a viagem. Tudo é criado antes da primeira thread e destruído só depois dos joins.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[Integrante 2] (~45 s) Pergunta certa do professor: como o mutex começa. Ele é inicializado em iniciar_oficina, main.c linha 131, com pthread_mutex_init, passando o endereço do mutex e NULL, que significa atributos padrão. Ele começa destravado e sem dono. O memset antes só zera os contadores. Na linha 138 a cv_noel recebe o relógio monotônico, para o timeout ser medido no mesmo relógio do t0. Um ponto de melhoria: os retornos dessas funções não são conferidos.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[Integrante 2] (~30 s) Mutex começa destravado. Variáveis de condição não têm valor: começam com a fila vazia. O que tem valor são as variáveis que elas observam, e todas começam em zero: nenhuma rena, nenhum grupo fechado, viagem não feita, largada não dada. total_threads é 1 + 9 + N, que é quantas threads a largada espera. Se renas_prontas começasse em 1, a viagem sairia com 8 renas.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[Integrante 2] (~40 s) Aqui estão todas as seções críticas. Noel fica com o mutex durante o laço de decisão e só o solta para simular os 5 ms da viagem ou os 3 ms da ajuda — assim elfos e renas continuam chegando enquanto ele trabalha. Rena e elfo travam, alteram o estado e esperam. Lembrar também: pthread_cond_wait solta o mutex enquanto a thread dorme.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[Integrante 2] (~45 s) Este é o padrão que todas as esperas seguem. A thread trava o mutex e testa a condição. Se for falsa, pthread_cond_wait solta o mutex e dorme de forma atômica — não há janela para perder o aviso. Quem muda o estado faz isso com o mutex e depois sinaliza. Ao acordar, a thread retrava o mutex e testa de novo, por isso é while e não if. Mutex protege o estado; a variável de condição só coordena a espera.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[Integrante 2] (~45 s) Sequência real. 1: Noel não tem trabalho e dorme em cv_noel, o que solta o mutex. 2 e 3: a nona rena trava o mutex e incrementa o contador para 9. 4: sinaliza Noel e vai esperar em cv_renas, soltando o mutex. 5: Noel acorda, retrava o mutex e reavalia: agora renas_ok é verdadeiro. 6: decide pela viagem na mesma seção crítica. 7: solta o mutex só para dormir os 5 ms. 8: marca viagem_concluida e faz broadcast; as renas acordam uma de cada vez e saem.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[Integrante 2] (~45 s) Como impedimos o quarto elfo de entrar num grupo iniciado: cada grupo tem um id e o elfo entra sempre no grupo apontado por grupo_aberto. Quando o terceiro elfo se inscreve, na mesma seção crítica ele marca o grupo como PRONTO, incrementa grupos_fechados e avança grupo_aberto. O quarto elfo, quando consegue o mutex, já cai no grupo seguinte. Os grupos formam uma fila FIFO, então também não há starvation entre elfos. Diferente da solução clássica com semáforos, o quarto elfo não espera: já forma o próximo grupo.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[Integrante 2] (~40 s) O laço de Noel: trava o mutex, verifica se terminou, calcula renas_ok e elfos_ok. Se nada está pronto, dorme em cv_noel com prazo. Se algo está pronto, decide: renas primeiro. A tarefa é simulada fora do mutex, e no fim ele volta ao topo do laço e reavalia tudo. O ponto importante: ler o estado e decidir acontecem sem soltar o mutex.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[Integrante 2] (~50 s) Como a prioridade é garantida: com o mutex, Noel calcula renas_ok e elfos_ok e escolhe primeiro as renas, na linha 117. Como não interrompe a ajuda: só a thread Noel decide, e durante a ajuda ela está dormindo em dormir_ate_ms, sem olhar nada. Se a nona rena chega no meio, ela incrementa o contador e sinaliza, mas o aviso não tem ouvinte; o estado fica gravado e Noel vê na volta ao laço. Atenção: o caso 'durante' foi analisado no código; nos parâmetros da matriz as renas nunca chegaram no meio de uma ajuda.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[Integrante 3] (~40 s) Três execuções reais, lidas do eventos.csv. Antes: a viagem acontece de 5 a 10 ms, Noel está livre quando cada grupo fecha. Junto: a 9ª rena chega a 10 ms, a viagem ocupa até 15 ms e os dois grupos ficam prontos nesse intervalo e esperam — é a disputa. Depois: os grupos são atendidos primeiro e Noel dorme até as renas chegarem em 30 ms. Em nenhuma execução uma ajuda foi interrompida.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[Integrante 2] APOIO. Se perguntarem 'e se as threads rodarem em outra ordem?': a decisão nunca se baseia no sinal recebido, e sim no estado lido com o mutex. Por isso aviso perdido, acordar espúrio ou outra thread chegando antes não quebram nada.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[Integrante 2] (~30 s) Rodamos de verdade uma versão ingênua, que atende elfos primeiro. Com os dois grupos prontos quando a nona rena chegou, Noel atendeu os dois antes das renas: o programa contou duas violações e as renas esperaram mais de 6 ms em vez de microssegundos. Isso mostra que o detector de violações funciona — então o zero da matriz tem significado.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[Integrante 2] (~1 min 30 s) Rodar ao vivo: cd src &amp;&amp; ./simulacao --elfos 6 --renas-ms 30 --rep 1 --semente 11 --out ../dados/teste_prioridade/ --teste-prioridade. Neste modo Noel só é liberado quando as renas e pelo menos um grupo estão prontos — isso cria a disputa de propósito, sem sleep: Noel espera na própria cv_noel. A saída mostra disputa = SIM, primeira decisão = renas, 6 de 6 elfos e zero violações.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[Integrante 3] Transição para as propriedades da solução.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[Integrante 3] (~50 s) Deadlock: não há, porque existe um único mutex, ninguém segura um recurso esperando outro, e quem espera numa variável de condição solta o mutex. Starvation: na versão finita não há — só uma viagem e os grupos são atendidos em ordem; mas se as renas voltassem sempre, a prioridade absoluta deixaria os elfos esperando para sempre; a mitigação seria aging ou cota. Espera ocupada: nenhuma. Corrida: descartada pela análise do código, mas não temos ferramenta como ThreadSanitizer para provar.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[Integrante 3] (~40 s) Os critérios clássicos: exclusão mútua, progresso, espera limitada, não depender de velocidade, e ainda sem espera ocupada e sem deadlock. Atendemos todos na versão finita. Robustez é parcial: não conferimos os retornos das funções de inicialização. Melhorias: conferir retornos, prazo na largada, uma variável de condição por grupo e, numa versão contínua, aging para os elfos.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[Integrante 3] Transição para os resultados.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[Integrante 3] (~40 s) Rodamos 5 configurações com 5 repetições cada: a referência com 6 elfos e renas junto, um conjunto variando os elfos e outro variando a chegada das renas. As métricas são vazão, espera dos elfos com média, p95 e máximo, e resposta às renas. Atenção: com 3 ou 6 amostras o p95 é o próprio máximo. Além disso: piloto para escolher o timeout, timeout forçado, teste de prioridade, versão ingênua e 300 execuções de estresse.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[Integrante 3] (~40 s) Eixo x: quantidade de elfos; eixo y: pedidos atendidos por segundo; cada ponto é a média de 5 execuções e a barra vai do mínimo ao máximo. A vazão cresce porque os 10 ms até o primeiro elfo e os 5 ms da viagem são custo fixo, diluído quando há mais grupos; a fila FIFO atende os grupos um atrás do outro. Ficou cerca de 2% abaixo da previsão por causa da latência dos sleeps, e a variação entre repetições é muito menor que a diferença entre os níveis.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[Integrante 3] (~40 s) Painel esquerdo: categorias de chegada das renas no eixo x, p95 da espera dos elfos no eixo y. São categorias, por isso os pontos não são ligados. Quando as renas chegam junto, a viagem ocupa Noel justamente enquanto o primeiro grupo se forma, e o p95 sobe para cerca de 5 ms; antes ou depois, a espera é só o tempo de completar o grupo, uns 2 ms. Painel direito, separado como pede o enunciado: as renas são atendidas em cerca de 20 microssegundos. É o efeito da prioridade.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[Integrante 3] (~35 s) Na referência, os dois grupos têm praticamente o mesmo p95. Esperávamos que o segundo esperasse mais, mas o primeiro espera a viagem e o segundo espera a ajuda ao primeiro; como os grupos chegam a cada 3 ms e cada ajuda dura 3 ms, o atraso se propaga sem acumular. Dizer que a intuição não se confirmou mostra que interpretamos o dado em vez de forçar a hipótese.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[Integrante 3] (~35 s) Eixo x: tempo em ms desde o sinal de início, mostrando o trecho de 8 a 23 ms. Faixa de cima: estado de Noel. Faixas de baixo: cada grupo, com a hachura indicando o tempo pronto e esperando. A nona rena chega em 10 ms, a viagem vai até 15, os dois grupos ficam prontos nesse intervalo e entram na fila; depois Noel trabalha sem pausa.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[Integrante 3] (~35 s) Cuidado ao interpretar: os testes mostram que nas execuções observadas as regras valeram. Não provam que nunca vão falhar. A garantia vem do argumento sobre o código: estado só com mutex, decisão na mesma seção crítica da leitura, só Noel decide. Algumas checagens de invariante nunca podem disparar por construção, então o zero delas sozinho não prova nada; o que mostra que o detector funciona é a versão ingênua.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[Integrante 3] (~40 s) Resumo: um mutex protege todo o estado, quatro variáveis de condição fazem as threads esperarem sem gastar CPU, a fila de grupos impede a invasão e a decisão de Noel, feita com o mutex, garante a prioridade sem interromper a ajuda. Resultados: 25 de 25 válidas, nenhuma violação, 300 de estresse. Limitações: cenário quase determinístico, latência dos timers nas medidas, p95 de poucas amostras, sem ferramenta de detecção de corrida e risco de starvation numa versão contínua. Obrigado, perguntas?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APOIO. Cola para perguntas: cada linha aponta o slide onde está a explicação completa.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554480"/>
            <a:ext cx="1051560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5400" b="1" i="0">
                <a:solidFill>
                  <a:srgbClr val="FFFFFF"/>
                </a:solidFill>
                <a:latin typeface="Cambria"/>
              </a:rPr>
              <a:t>Problema do Papai Noel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65176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0" i="0">
                <a:solidFill>
                  <a:srgbClr val="FFFFFF"/>
                </a:solidFill>
                <a:latin typeface="Calibri"/>
              </a:rPr>
              <a:t>Sincronização com pthreads: implementação, experimentos e análise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114800"/>
            <a:ext cx="1051560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FFFFFF"/>
                </a:solidFill>
                <a:latin typeface="Calibri"/>
              </a:rPr>
              <a:t>Tema 11 · Sistemas Operacionais · Prof. Lucca Abbado Neres · FAG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FFFFFF"/>
                </a:solidFill>
                <a:latin typeface="Calibri"/>
              </a:rPr>
              <a:t>[Integrante 1] · [Integrante 2] · [Integrante 3]</a:t>
            </a:r>
          </a:p>
        </p:txBody>
      </p:sp>
      <p:sp>
        <p:nvSpPr>
          <p:cNvPr id="5" name="Oval 4"/>
          <p:cNvSpPr/>
          <p:nvPr/>
        </p:nvSpPr>
        <p:spPr>
          <a:xfrm>
            <a:off x="8595360" y="5257800"/>
            <a:ext cx="868680" cy="868680"/>
          </a:xfrm>
          <a:prstGeom prst="ellipse">
            <a:avLst/>
          </a:prstGeom>
          <a:solidFill>
            <a:srgbClr val="B3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144768"/>
            <a:ext cx="10515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Noel</a:t>
            </a:r>
          </a:p>
        </p:txBody>
      </p:sp>
      <p:sp>
        <p:nvSpPr>
          <p:cNvPr id="7" name="Oval 6"/>
          <p:cNvSpPr/>
          <p:nvPr/>
        </p:nvSpPr>
        <p:spPr>
          <a:xfrm>
            <a:off x="9646920" y="5257800"/>
            <a:ext cx="868680" cy="868680"/>
          </a:xfrm>
          <a:prstGeom prst="ellipse">
            <a:avLst/>
          </a:prstGeom>
          <a:solidFill>
            <a:srgbClr val="B3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55480" y="6144768"/>
            <a:ext cx="10515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renas</a:t>
            </a:r>
          </a:p>
        </p:txBody>
      </p:sp>
      <p:sp>
        <p:nvSpPr>
          <p:cNvPr id="9" name="Oval 8"/>
          <p:cNvSpPr/>
          <p:nvPr/>
        </p:nvSpPr>
        <p:spPr>
          <a:xfrm>
            <a:off x="10698480" y="5257800"/>
            <a:ext cx="868680" cy="868680"/>
          </a:xfrm>
          <a:prstGeom prst="ellipse">
            <a:avLst/>
          </a:prstGeom>
          <a:solidFill>
            <a:srgbClr val="B3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144768"/>
            <a:ext cx="10515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elfos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1F4D3A"/>
                </a:solidFill>
                <a:latin typeface="Cambria"/>
              </a:rPr>
              <a:t>Roteiro</a:t>
            </a:r>
          </a:p>
        </p:txBody>
      </p:sp>
      <p:sp>
        <p:nvSpPr>
          <p:cNvPr id="3" name="Oval 2"/>
          <p:cNvSpPr/>
          <p:nvPr/>
        </p:nvSpPr>
        <p:spPr>
          <a:xfrm>
            <a:off x="1188720" y="1828800"/>
            <a:ext cx="914400" cy="914400"/>
          </a:xfrm>
          <a:prstGeom prst="ellipse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194560" y="2286000"/>
            <a:ext cx="1188720" cy="0"/>
          </a:xfrm>
          <a:prstGeom prst="line">
            <a:avLst/>
          </a:prstGeom>
          <a:ln w="22225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2926080"/>
            <a:ext cx="21031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1F4D3A"/>
                </a:solidFill>
                <a:latin typeface="Calibri"/>
              </a:rPr>
              <a:t>Fundamentos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429000"/>
            <a:ext cx="210312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 i="0">
                <a:solidFill>
                  <a:srgbClr val="555555"/>
                </a:solidFill>
                <a:latin typeface="Calibri"/>
              </a:rPr>
              <a:t>corrida, seção crítica,
mutex × semáforo</a:t>
            </a:r>
          </a:p>
        </p:txBody>
      </p:sp>
      <p:sp>
        <p:nvSpPr>
          <p:cNvPr id="7" name="Oval 6"/>
          <p:cNvSpPr/>
          <p:nvPr/>
        </p:nvSpPr>
        <p:spPr>
          <a:xfrm>
            <a:off x="3474720" y="1828800"/>
            <a:ext cx="914400" cy="914400"/>
          </a:xfrm>
          <a:prstGeom prst="ellipse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480560" y="2286000"/>
            <a:ext cx="1188720" cy="0"/>
          </a:xfrm>
          <a:prstGeom prst="line">
            <a:avLst/>
          </a:prstGeom>
          <a:ln w="22225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880360" y="2926080"/>
            <a:ext cx="21031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1F4D3A"/>
                </a:solidFill>
                <a:latin typeface="Calibri"/>
              </a:rPr>
              <a:t>O problema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3429000"/>
            <a:ext cx="210312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 i="0">
                <a:solidFill>
                  <a:srgbClr val="555555"/>
                </a:solidFill>
                <a:latin typeface="Calibri"/>
              </a:rPr>
              <a:t>elfos em trios,
9 renas, prioridade</a:t>
            </a:r>
          </a:p>
        </p:txBody>
      </p:sp>
      <p:sp>
        <p:nvSpPr>
          <p:cNvPr id="11" name="Oval 10"/>
          <p:cNvSpPr/>
          <p:nvPr/>
        </p:nvSpPr>
        <p:spPr>
          <a:xfrm>
            <a:off x="5760720" y="1828800"/>
            <a:ext cx="914400" cy="914400"/>
          </a:xfrm>
          <a:prstGeom prst="ellipse">
            <a:avLst/>
          </a:prstGeom>
          <a:solidFill>
            <a:srgbClr val="B3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766560" y="2286000"/>
            <a:ext cx="1188719" cy="0"/>
          </a:xfrm>
          <a:prstGeom prst="line">
            <a:avLst/>
          </a:prstGeom>
          <a:ln w="22225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166360" y="2926080"/>
            <a:ext cx="21031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1F4D3A"/>
                </a:solidFill>
                <a:latin typeface="Calibri"/>
              </a:rPr>
              <a:t>Solução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60" y="3429000"/>
            <a:ext cx="210312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 i="0">
                <a:solidFill>
                  <a:srgbClr val="555555"/>
                </a:solidFill>
                <a:latin typeface="Calibri"/>
              </a:rPr>
              <a:t>mecanismos, valores
iniciais, linhas reais</a:t>
            </a:r>
          </a:p>
        </p:txBody>
      </p:sp>
      <p:sp>
        <p:nvSpPr>
          <p:cNvPr id="15" name="Oval 14"/>
          <p:cNvSpPr/>
          <p:nvPr/>
        </p:nvSpPr>
        <p:spPr>
          <a:xfrm>
            <a:off x="8046720" y="1828800"/>
            <a:ext cx="914400" cy="914400"/>
          </a:xfrm>
          <a:prstGeom prst="ellipse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052560" y="2286000"/>
            <a:ext cx="1188720" cy="0"/>
          </a:xfrm>
          <a:prstGeom prst="line">
            <a:avLst/>
          </a:prstGeom>
          <a:ln w="22225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452360" y="2926080"/>
            <a:ext cx="21031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1F4D3A"/>
                </a:solidFill>
                <a:latin typeface="Calibri"/>
              </a:rPr>
              <a:t>Propriedades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3429000"/>
            <a:ext cx="210312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 i="0">
                <a:solidFill>
                  <a:srgbClr val="555555"/>
                </a:solidFill>
                <a:latin typeface="Calibri"/>
              </a:rPr>
              <a:t>deadlock, starvation,
princípios</a:t>
            </a:r>
          </a:p>
        </p:txBody>
      </p:sp>
      <p:sp>
        <p:nvSpPr>
          <p:cNvPr id="19" name="Oval 18"/>
          <p:cNvSpPr/>
          <p:nvPr/>
        </p:nvSpPr>
        <p:spPr>
          <a:xfrm>
            <a:off x="10332720" y="1828800"/>
            <a:ext cx="914400" cy="914400"/>
          </a:xfrm>
          <a:prstGeom prst="ellipse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38360" y="2926080"/>
            <a:ext cx="21031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1F4D3A"/>
                </a:solidFill>
                <a:latin typeface="Calibri"/>
              </a:rPr>
              <a:t>Resultados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38360" y="3429000"/>
            <a:ext cx="210312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 i="0">
                <a:solidFill>
                  <a:srgbClr val="555555"/>
                </a:solidFill>
                <a:latin typeface="Calibri"/>
              </a:rPr>
              <a:t>método, G1–G4,
limitações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754880"/>
            <a:ext cx="11109960" cy="1188720"/>
          </a:xfrm>
          <a:prstGeom prst="roundRect">
            <a:avLst>
              <a:gd name="adj" fmla="val 8000"/>
            </a:avLst>
          </a:prstGeom>
          <a:solidFill>
            <a:srgbClr val="E6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846320"/>
            <a:ext cx="10698480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F4D3A"/>
                </a:solidFill>
                <a:latin typeface="Calibri"/>
              </a:rPr>
              <a:t>Mensagem central: </a:t>
            </a:r>
            <a:r>
              <a:rPr sz="1800" b="0" i="0">
                <a:solidFill>
                  <a:srgbClr val="1A1A1A"/>
                </a:solidFill>
                <a:latin typeface="Calibri"/>
              </a:rPr>
              <a:t>1 mutex protege todo o estado; 4 variáveis de condição fazem as threads esperarem sem gastar CPU; só Noel decide, e decide com o mutex — renas primeiro, sem interromper a ajuda.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Tema 11 — Problema do Papai Noel · Sistemas Operacionais (FAG)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81360" y="6419088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" y="2514600"/>
            <a:ext cx="1097280" cy="1097280"/>
          </a:xfrm>
          <a:prstGeom prst="ellipse">
            <a:avLst/>
          </a:prstGeom>
          <a:solidFill>
            <a:srgbClr val="B3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0" y="2423160"/>
            <a:ext cx="91440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Fundamentos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0" y="3246120"/>
            <a:ext cx="91440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FFFFFF"/>
                </a:solidFill>
                <a:latin typeface="Calibri"/>
              </a:rPr>
              <a:t>O que é um problema de sincronização e por que o SO está no meio dele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Tema 11 — Problema do Papai Noel · Sistemas Operacionais (FAG)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19088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1F4D3A"/>
                </a:solidFill>
                <a:latin typeface="Cambria"/>
              </a:rPr>
              <a:t>Sincronização: quando a ordem de execução importa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3429000" cy="2240280"/>
          </a:xfrm>
          <a:prstGeom prst="roundRect">
            <a:avLst>
              <a:gd name="adj" fmla="val 8000"/>
            </a:avLst>
          </a:prstGeom>
          <a:solidFill>
            <a:srgbClr val="E6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81328"/>
            <a:ext cx="31089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1F4D3A"/>
                </a:solidFill>
                <a:latin typeface="Calibri"/>
              </a:rPr>
              <a:t>Concorrência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3108960" cy="1600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várias threads progridem ao mesmo tempo; quem roda e quando é decidido pelo escalonador do SO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60520" y="1371600"/>
            <a:ext cx="3429000" cy="2240280"/>
          </a:xfrm>
          <a:prstGeom prst="roundRect">
            <a:avLst>
              <a:gd name="adj" fmla="val 8000"/>
            </a:avLst>
          </a:prstGeom>
          <a:solidFill>
            <a:srgbClr val="E6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43400" y="1481328"/>
            <a:ext cx="31089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1F4D3A"/>
                </a:solidFill>
                <a:latin typeface="Calibri"/>
              </a:rPr>
              <a:t>Processo × thread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1965960"/>
            <a:ext cx="3108960" cy="1600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processo = espaço de memória próprio; threads do mesmo processo compartilham a memória — aqui, a struct Oficina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794760"/>
            <a:ext cx="3429000" cy="2240280"/>
          </a:xfrm>
          <a:prstGeom prst="roundRect">
            <a:avLst>
              <a:gd name="adj" fmla="val 8000"/>
            </a:avLst>
          </a:prstGeom>
          <a:solidFill>
            <a:srgbClr val="E6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904488"/>
            <a:ext cx="31089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1F4D3A"/>
                </a:solidFill>
                <a:latin typeface="Calibri"/>
              </a:rPr>
              <a:t>Seção crítica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389120"/>
            <a:ext cx="3108960" cy="1600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trecho que lê/altera dados compartilhados e não pode ser executado por duas threads ao mesmo tempo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3794760"/>
            <a:ext cx="3429000" cy="2240280"/>
          </a:xfrm>
          <a:prstGeom prst="roundRect">
            <a:avLst>
              <a:gd name="adj" fmla="val 8000"/>
            </a:avLst>
          </a:prstGeom>
          <a:solidFill>
            <a:srgbClr val="E6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3904488"/>
            <a:ext cx="31089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1F4D3A"/>
                </a:solidFill>
                <a:latin typeface="Calibri"/>
              </a:rPr>
              <a:t>Condição de corrida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4389120"/>
            <a:ext cx="3108960" cy="1600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o resultado depende do entrelaçamento das instruções; uma thread apaga o trabalho da outra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09560" y="1371600"/>
            <a:ext cx="3749039" cy="4663440"/>
          </a:xfrm>
          <a:prstGeom prst="roundRect">
            <a:avLst>
              <a:gd name="adj" fmla="val 8000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1508760"/>
            <a:ext cx="33832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Onde entra o SO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2057400"/>
            <a:ext cx="3383280" cy="3931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•  Cria e escalona as threads: a ordem não é controlada pelo programa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•  Bloqueia e acorda threads: quem espera um mutex ou uma condição sai da CPU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•  Fornece as primitivas (pthreads, relógio monotônico, timers)</a:t>
            </a:r>
          </a:p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•  Um programa concorrente só é correto se for correto para TODA ordem possível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Tema 11 — Problema do Papai Noel · Sistemas Operacionais (FAG)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19088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1F4D3A"/>
                </a:solidFill>
                <a:latin typeface="Cambria"/>
              </a:rPr>
              <a:t>Condição de corrida: duas renas, um contador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17320"/>
          <a:ext cx="667512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011680"/>
                <a:gridCol w="2011680"/>
                <a:gridCol w="1737360"/>
              </a:tblGrid>
              <a:tr h="5029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Passo</a:t>
                      </a:r>
                    </a:p>
                  </a:txBody>
                  <a:tcPr marL="73152" marR="73152" marT="27432" marB="27432" anchor="ctr">
                    <a:solidFill>
                      <a:srgbClr val="1F4D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Rena A</a:t>
                      </a:r>
                    </a:p>
                  </a:txBody>
                  <a:tcPr marL="73152" marR="73152" marT="27432" marB="27432" anchor="ctr">
                    <a:solidFill>
                      <a:srgbClr val="1F4D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Rena B</a:t>
                      </a:r>
                    </a:p>
                  </a:txBody>
                  <a:tcPr marL="73152" marR="73152" marT="27432" marB="27432" anchor="ctr">
                    <a:solidFill>
                      <a:srgbClr val="1F4D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renas_prontas</a:t>
                      </a:r>
                    </a:p>
                  </a:txBody>
                  <a:tcPr marL="73152" marR="73152" marT="27432" marB="27432" anchor="ctr">
                    <a:solidFill>
                      <a:srgbClr val="1F4D3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lê 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E6EFE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73152" marR="73152" marT="27432" marB="27432" anchor="ctr">
                    <a:solidFill>
                      <a:srgbClr val="E6EF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lê 7</a:t>
                      </a:r>
                    </a:p>
                  </a:txBody>
                  <a:tcPr marL="73152" marR="73152" marT="27432" marB="27432" anchor="ctr">
                    <a:solidFill>
                      <a:srgbClr val="E6EF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3152" marR="73152" marT="27432" marB="27432" anchor="ctr">
                    <a:solidFill>
                      <a:srgbClr val="E6EFE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soma e grava 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E6EFE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73152" marR="73152" marT="27432" marB="27432" anchor="ctr">
                    <a:solidFill>
                      <a:srgbClr val="E6EF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B31B2B"/>
                          </a:solidFill>
                          <a:latin typeface="Calibri"/>
                        </a:rPr>
                        <a:t>soma e grava 8</a:t>
                      </a:r>
                    </a:p>
                  </a:txBody>
                  <a:tcPr marL="73152" marR="73152" marT="27432" marB="27432" anchor="ctr">
                    <a:solidFill>
                      <a:srgbClr val="E6EF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B31B2B"/>
                          </a:solidFill>
                          <a:latin typeface="Calibri"/>
                        </a:rPr>
                        <a:t>8  ✗</a:t>
                      </a:r>
                    </a:p>
                  </a:txBody>
                  <a:tcPr marL="73152" marR="73152" marT="27432" marB="27432" anchor="ctr">
                    <a:solidFill>
                      <a:srgbClr val="E6EFE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069080"/>
            <a:ext cx="66751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B31B2B"/>
                </a:solidFill>
                <a:latin typeface="Calibri"/>
              </a:rPr>
              <a:t>Sem proteção: </a:t>
            </a:r>
            <a:r>
              <a:rPr sz="1600" b="0" i="0">
                <a:solidFill>
                  <a:srgbClr val="1A1A1A"/>
                </a:solidFill>
                <a:latin typeface="Calibri"/>
              </a:rPr>
              <a:t>renas_prontas++ é ler → somar → gravar. Com 9 renas o contador pode ficar em 8: Noel nunca prepara a viagem e o episódio termina em timeout.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79" y="1417320"/>
            <a:ext cx="4160520" cy="233172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7807" y="1508760"/>
            <a:ext cx="3941063" cy="214883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8A8A8A"/>
                </a:solidFill>
                <a:latin typeface="Courier New"/>
              </a:rPr>
              <a:t>rena.c — thread_rena()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A8A8A"/>
                </a:solidFill>
                <a:latin typeface="Courier New"/>
              </a:rPr>
              <a:t> 23 </a:t>
            </a:r>
            <a:r>
              <a:rPr sz="1200" b="1" i="0">
                <a:solidFill>
                  <a:srgbClr val="F2C94C"/>
                </a:solidFill>
                <a:latin typeface="Courier New"/>
              </a:rPr>
              <a:t>pthread_mutex_lock(&amp;o-&gt;mutex);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A8A8A"/>
                </a:solidFill>
                <a:latin typeface="Courier New"/>
              </a:rPr>
              <a:t>   ⋮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A8A8A"/>
                </a:solidFill>
                <a:latin typeface="Courier New"/>
              </a:rPr>
              <a:t> 28 </a:t>
            </a:r>
            <a:r>
              <a:rPr sz="1200" b="1" i="0">
                <a:solidFill>
                  <a:srgbClr val="F2C94C"/>
                </a:solidFill>
                <a:latin typeface="Courier New"/>
              </a:rPr>
              <a:t>o-&gt;renas_prontas++;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A8A8A"/>
                </a:solidFill>
                <a:latin typeface="Courier New"/>
              </a:rPr>
              <a:t>   ⋮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A8A8A"/>
                </a:solidFill>
                <a:latin typeface="Courier New"/>
              </a:rPr>
              <a:t> 30 </a:t>
            </a:r>
            <a:r>
              <a:rPr sz="1200" b="0" i="0">
                <a:solidFill>
                  <a:srgbClr val="E8E8E8"/>
                </a:solidFill>
                <a:latin typeface="Courier New"/>
              </a:rPr>
              <a:t>if (o-&gt;renas_prontas == NUM_RENAS) {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3886200"/>
            <a:ext cx="4160520" cy="2194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4D3A"/>
                </a:solidFill>
                <a:latin typeface="Calibri"/>
              </a:rPr>
              <a:t>Com o mutex (rena.c:23)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•  A rena B fica bloqueada no pthread_mutex_lock até A soltar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•  Ler-somar-gravar vira indivisível para as outras threads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•  Quem ganha a disputa não é FIFO: o SO escolhe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Tema 11 — Problema do Papai Noel · Sistemas Operacionais (FAG)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19088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1F4D3A"/>
                </a:solidFill>
                <a:latin typeface="Cambria"/>
              </a:rPr>
              <a:t>Por que um if e um contador não bastam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5440680" cy="3657600"/>
          </a:xfrm>
          <a:prstGeom prst="roundRect">
            <a:avLst>
              <a:gd name="adj" fmla="val 8000"/>
            </a:avLst>
          </a:prstGeom>
          <a:solidFill>
            <a:srgbClr val="FB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81328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B31B2B"/>
                </a:solidFill>
                <a:latin typeface="Calibri"/>
              </a:rPr>
              <a:t>Sem mutex: o 4º elfo invade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103120"/>
            <a:ext cx="1143000" cy="512064"/>
          </a:xfrm>
          <a:prstGeom prst="roundRect">
            <a:avLst>
              <a:gd name="adj" fmla="val 8000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Elfo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57400" y="2103120"/>
            <a:ext cx="3840480" cy="51206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A1A1A"/>
                </a:solidFill>
                <a:latin typeface="Courier New"/>
              </a:rPr>
              <a:t>testa n &lt; 3  (n = 2)  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779776"/>
            <a:ext cx="1143000" cy="512064"/>
          </a:xfrm>
          <a:prstGeom prst="roundRect">
            <a:avLst>
              <a:gd name="adj" fmla="val 8000"/>
            </a:avLst>
          </a:prstGeom>
          <a:solidFill>
            <a:srgbClr val="B3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Elfo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2779776"/>
            <a:ext cx="3840480" cy="51206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A1A1A"/>
                </a:solidFill>
                <a:latin typeface="Courier New"/>
              </a:rPr>
              <a:t>testa n &lt; 3  (n = 2)  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456432"/>
            <a:ext cx="1143000" cy="512064"/>
          </a:xfrm>
          <a:prstGeom prst="roundRect">
            <a:avLst>
              <a:gd name="adj" fmla="val 8000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Elfo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3456432"/>
            <a:ext cx="3840480" cy="51206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A1A1A"/>
                </a:solidFill>
                <a:latin typeface="Courier New"/>
              </a:rPr>
              <a:t>grava membros[2]; n = 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133087"/>
            <a:ext cx="1143000" cy="512064"/>
          </a:xfrm>
          <a:prstGeom prst="roundRect">
            <a:avLst>
              <a:gd name="adj" fmla="val 8000"/>
            </a:avLst>
          </a:prstGeom>
          <a:solidFill>
            <a:srgbClr val="B3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Elfo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133087"/>
            <a:ext cx="3840480" cy="51206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A1A1A"/>
                </a:solidFill>
                <a:latin typeface="Courier New"/>
              </a:rPr>
              <a:t>grava membros[2]; n = 4  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5440680" cy="3657600"/>
          </a:xfrm>
          <a:prstGeom prst="roundRect">
            <a:avLst>
              <a:gd name="adj" fmla="val 8000"/>
            </a:avLst>
          </a:prstGeom>
          <a:solidFill>
            <a:srgbClr val="E6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481328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1F4D3A"/>
                </a:solidFill>
                <a:latin typeface="Calibri"/>
              </a:rPr>
              <a:t>Com mutex: testar e agir é indivisível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057400"/>
            <a:ext cx="5029200" cy="2926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A1A1A"/>
                </a:solidFill>
                <a:latin typeface="Calibri"/>
              </a:rPr>
              <a:t>•  elfo.c:27 trava; o elfo lê grupo_aberto, inscreve-se, e o 3º fecha o grupo (PRONTO) e avança grupo_aberto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A1A1A"/>
                </a:solidFill>
                <a:latin typeface="Calibri"/>
              </a:rPr>
              <a:t>•  Só depois solta o mutex (wait em elfo.c:58)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A1A1A"/>
                </a:solidFill>
                <a:latin typeface="Calibri"/>
              </a:rPr>
              <a:t>•  O 4º elfo, ao entrar, já vê grupo_aberto = próximo grupo: não existe instante em que ele veja o grupo cheio e ainda aberto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257800"/>
            <a:ext cx="1110996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F4D3A"/>
                </a:solidFill>
                <a:latin typeface="Calibri"/>
              </a:rPr>
              <a:t>E uma flag caseira?  </a:t>
            </a:r>
            <a:r>
              <a:rPr sz="1600" b="0" i="0">
                <a:solidFill>
                  <a:srgbClr val="1A1A1A"/>
                </a:solidFill>
                <a:latin typeface="Courier New"/>
              </a:rPr>
              <a:t>while (ocupado); ocupado = 1;  </a:t>
            </a:r>
            <a:r>
              <a:rPr sz="1600" b="0" i="0">
                <a:solidFill>
                  <a:srgbClr val="1A1A1A"/>
                </a:solidFill>
                <a:latin typeface="Calibri"/>
              </a:rPr>
              <a:t>sofre a mesma corrida entre o teste e a atribuição — e ainda é espera ocupada. Só uma instrução atômica do hardware, usada por dentro do mutex, resolve.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Tema 11 — Problema do Papai Noel · Sistemas Operacionais (FAG)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19088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1F4D3A"/>
                </a:solidFill>
                <a:latin typeface="Cambria"/>
              </a:rPr>
              <a:t>Mutex, semáforo e variável de condição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1110996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880360"/>
                <a:gridCol w="3108960"/>
                <a:gridCol w="3108960"/>
              </a:tblGrid>
              <a:tr h="548640">
                <a:tc>
                  <a:txBody>
                    <a:bodyPr/>
                    <a:lstStyle/>
                    <a:p/>
                  </a:txBody>
                  <a:tcPr marL="73152" marR="73152" marT="27432" marB="27432" anchor="ctr">
                    <a:solidFill>
                      <a:srgbClr val="1F4D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Mutex</a:t>
                      </a:r>
                    </a:p>
                  </a:txBody>
                  <a:tcPr marL="73152" marR="73152" marT="27432" marB="27432" anchor="ctr">
                    <a:solidFill>
                      <a:srgbClr val="1F4D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Semáforo</a:t>
                      </a:r>
                    </a:p>
                  </a:txBody>
                  <a:tcPr marL="73152" marR="73152" marT="27432" marB="27432" anchor="ctr">
                    <a:solidFill>
                      <a:srgbClr val="1F4D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Variável de condição</a:t>
                      </a:r>
                    </a:p>
                  </a:txBody>
                  <a:tcPr marL="73152" marR="73152" marT="27432" marB="27432" anchor="ctr">
                    <a:solidFill>
                      <a:srgbClr val="1F4D3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Para quê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exclusão mútua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contar recursos / avisos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esperar uma condição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Estado inicial</a:t>
                      </a:r>
                    </a:p>
                  </a:txBody>
                  <a:tcPr marL="73152" marR="73152" marT="27432" marB="27432" anchor="ctr">
                    <a:solidFill>
                      <a:srgbClr val="E6EF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destravado (sem valor numérico)</a:t>
                      </a:r>
                    </a:p>
                  </a:txBody>
                  <a:tcPr marL="73152" marR="73152" marT="27432" marB="27432" anchor="ctr">
                    <a:solidFill>
                      <a:srgbClr val="E6EF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um número: sem_init(&amp;s, 0, valor)</a:t>
                      </a:r>
                    </a:p>
                  </a:txBody>
                  <a:tcPr marL="73152" marR="73152" marT="27432" marB="27432" anchor="ctr">
                    <a:solidFill>
                      <a:srgbClr val="E6EF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fila vazia (sem valor)</a:t>
                      </a:r>
                    </a:p>
                  </a:txBody>
                  <a:tcPr marL="73152" marR="73152" marT="27432" marB="27432" anchor="ctr">
                    <a:solidFill>
                      <a:srgbClr val="E6EFE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Tem dono?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sim: só quem travou destrava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não: qualquer thread dá post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não; sempre usada com um mutex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Guarda avisos?</a:t>
                      </a:r>
                    </a:p>
                  </a:txBody>
                  <a:tcPr marL="73152" marR="73152" marT="27432" marB="27432" anchor="ctr">
                    <a:solidFill>
                      <a:srgbClr val="E6EF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E6EF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sim, no contador</a:t>
                      </a:r>
                    </a:p>
                  </a:txBody>
                  <a:tcPr marL="73152" marR="73152" marT="27432" marB="27432" anchor="ctr">
                    <a:solidFill>
                      <a:srgbClr val="E6EF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não: signal sem ninguém esperando se perde</a:t>
                      </a:r>
                    </a:p>
                  </a:txBody>
                  <a:tcPr marL="73152" marR="73152" marT="27432" marB="27432" anchor="ctr">
                    <a:solidFill>
                      <a:srgbClr val="E6EFE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Operações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lock / unlock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wait (−1, bloqueia em 0) / post (+1)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wait / signal / broadcast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Neste projeto</a:t>
                      </a:r>
                    </a:p>
                  </a:txBody>
                  <a:tcPr marL="73152" marR="73152" marT="27432" marB="27432" anchor="ctr">
                    <a:solidFill>
                      <a:srgbClr val="E6EF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F4D3A"/>
                          </a:solidFill>
                          <a:latin typeface="Calibri"/>
                        </a:rPr>
                        <a:t>1: mutex</a:t>
                      </a:r>
                    </a:p>
                  </a:txBody>
                  <a:tcPr marL="73152" marR="73152" marT="27432" marB="27432" anchor="ctr">
                    <a:solidFill>
                      <a:srgbClr val="E6EF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B31B2B"/>
                          </a:solidFill>
                          <a:latin typeface="Calibri"/>
                        </a:rPr>
                        <a:t>nenhum</a:t>
                      </a:r>
                    </a:p>
                  </a:txBody>
                  <a:tcPr marL="73152" marR="73152" marT="27432" marB="27432" anchor="ctr">
                    <a:solidFill>
                      <a:srgbClr val="E6EF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F4D3A"/>
                          </a:solidFill>
                          <a:latin typeface="Calibri"/>
                        </a:rPr>
                        <a:t>4: cv_largada, cv_noel, cv_elfos, cv_renas</a:t>
                      </a:r>
                    </a:p>
                  </a:txBody>
                  <a:tcPr marL="73152" marR="73152" marT="27432" marB="27432" anchor="ctr">
                    <a:solidFill>
                      <a:srgbClr val="E6EFE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440680"/>
            <a:ext cx="1110996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F4D3A"/>
                </a:solidFill>
                <a:latin typeface="Calibri"/>
              </a:rPr>
              <a:t>Por que cond var e não semáforo? </a:t>
            </a:r>
            <a:r>
              <a:rPr sz="1600" b="0" i="0">
                <a:solidFill>
                  <a:srgbClr val="1A1A1A"/>
                </a:solidFill>
                <a:latin typeface="Calibri"/>
              </a:rPr>
              <a:t>Noel espera um predicado composto (9 renas OU grupo pronto) e decide olhando as duas demandas na mesma seção crítica. grep "sem_" em src/ → nada.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Tema 11 — Problema do Papai Noel · Sistemas Operacionais (FAG)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19088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" y="2514600"/>
            <a:ext cx="1097280" cy="1097280"/>
          </a:xfrm>
          <a:prstGeom prst="ellipse">
            <a:avLst/>
          </a:prstGeom>
          <a:solidFill>
            <a:srgbClr val="B3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0" y="2423160"/>
            <a:ext cx="91440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O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0" y="3246120"/>
            <a:ext cx="91440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FFFFFF"/>
                </a:solidFill>
                <a:latin typeface="Calibri"/>
              </a:rPr>
              <a:t>Elfos em grupos de três, nove renas e uma única decisão por vez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Tema 11 — Problema do Papai Noel · Sistemas Operacionais (FAG)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19088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1F4D3A"/>
                </a:solidFill>
                <a:latin typeface="Cambria"/>
              </a:rPr>
              <a:t>O problema: duas demandas, um único Noel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5394960" cy="4023360"/>
          </a:xfrm>
          <a:prstGeom prst="roundRect">
            <a:avLst>
              <a:gd name="adj" fmla="val 8000"/>
            </a:avLst>
          </a:prstGeom>
          <a:solidFill>
            <a:srgbClr val="E6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" y="1691640"/>
            <a:ext cx="822960" cy="822960"/>
          </a:xfrm>
          <a:prstGeom prst="ellipse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19" y="1737360"/>
            <a:ext cx="39319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1A1A1A"/>
                </a:solidFill>
                <a:latin typeface="Calibri"/>
              </a:rPr>
              <a:t>Grupos de exatamente 3 elfos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743200"/>
            <a:ext cx="4846320" cy="2651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A1A1A"/>
                </a:solidFill>
                <a:latin typeface="Calibri"/>
              </a:rPr>
              <a:t>•  Cada elfo faz um pedido (versão finita)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A1A1A"/>
                </a:solidFill>
                <a:latin typeface="Calibri"/>
              </a:rPr>
              <a:t>•  O elfo i chega em 10 + i ms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A1A1A"/>
                </a:solidFill>
                <a:latin typeface="Calibri"/>
              </a:rPr>
              <a:t>•  Ajudar um grupo dura 3 ms e não pode ser interrompido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A1A1A"/>
                </a:solidFill>
                <a:latin typeface="Calibri"/>
              </a:rPr>
              <a:t>•  Nenhum elfo pode invadir um grupo fechado ou em atendimento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371600"/>
            <a:ext cx="5394960" cy="4023360"/>
          </a:xfrm>
          <a:prstGeom prst="roundRect">
            <a:avLst>
              <a:gd name="adj" fmla="val 8000"/>
            </a:avLst>
          </a:prstGeom>
          <a:solidFill>
            <a:srgbClr val="E6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583680" y="1691640"/>
            <a:ext cx="822960" cy="822960"/>
          </a:xfrm>
          <a:prstGeom prst="ellipse">
            <a:avLst/>
          </a:prstGeom>
          <a:solidFill>
            <a:srgbClr val="B3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1737360"/>
            <a:ext cx="39319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1A1A1A"/>
                </a:solidFill>
                <a:latin typeface="Calibri"/>
              </a:rPr>
              <a:t>Nove renas, uma viagem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743200"/>
            <a:ext cx="4846320" cy="2651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A1A1A"/>
                </a:solidFill>
                <a:latin typeface="Calibri"/>
              </a:rPr>
              <a:t>•  Chegam juntas: antes (5 ms), junto (10 ms) ou depois (30 ms)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A1A1A"/>
                </a:solidFill>
                <a:latin typeface="Calibri"/>
              </a:rPr>
              <a:t>•  A viagem só é preparada com as 9 renas (5 ms)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A1A1A"/>
                </a:solidFill>
                <a:latin typeface="Calibri"/>
              </a:rPr>
              <a:t>•  Prioridade: com as duas demandas prontas, Noel escolhe as renas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A1A1A"/>
                </a:solidFill>
                <a:latin typeface="Calibri"/>
              </a:rPr>
              <a:t>•  O programa encerra quando a viagem e todos os grupos terminam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577840"/>
            <a:ext cx="1110996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555555"/>
                </a:solidFill>
                <a:latin typeface="Calibri"/>
              </a:rPr>
              <a:t>Noel é um recurso único e disputado — como uma CPU com clientes de prioridades diferentes, que só decide entre tarefas (não preemptivo).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Tema 11 — Problema do Papai Noel · Sistemas Operacionais (FAG)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19088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" y="2514600"/>
            <a:ext cx="1097280" cy="1097280"/>
          </a:xfrm>
          <a:prstGeom prst="ellipse">
            <a:avLst/>
          </a:prstGeom>
          <a:solidFill>
            <a:srgbClr val="B3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0" y="2423160"/>
            <a:ext cx="91440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Solução e sincronização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0" y="3246120"/>
            <a:ext cx="91440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FFFFFF"/>
                </a:solidFill>
                <a:latin typeface="Calibri"/>
              </a:rPr>
              <a:t>Threads, mecanismos, valores iniciais e as linhas reais do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Tema 11 — Problema do Papai Noel · Sistemas Operacionais (FAG)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19088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1F4D3A"/>
                </a:solidFill>
                <a:latin typeface="Cambria"/>
              </a:rPr>
              <a:t>Arquitetura: 1 + 9 + N threads e um estado compartilhado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3474720" cy="2148840"/>
          </a:xfrm>
          <a:prstGeom prst="roundRect">
            <a:avLst>
              <a:gd name="adj" fmla="val 8000"/>
            </a:avLst>
          </a:prstGeom>
          <a:solidFill>
            <a:srgbClr val="E6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81328"/>
            <a:ext cx="31089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B31B2B"/>
                </a:solidFill>
                <a:latin typeface="Calibri"/>
              </a:rPr>
              <a:t>Noel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20240"/>
            <a:ext cx="31089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55555"/>
                </a:solidFill>
                <a:latin typeface="Calibri"/>
              </a:rPr>
              <a:t>1 thread · noel.c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3108960" cy="1234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dorme em cv_noel; decide com o mutex: renas primeiro; só ele altera o estado dos grupos e da viagem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286000" y="3566160"/>
            <a:ext cx="0" cy="411479"/>
          </a:xfrm>
          <a:prstGeom prst="line">
            <a:avLst/>
          </a:prstGeom>
          <a:ln w="25400">
            <a:solidFill>
              <a:srgbClr val="1F4D3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297679" y="1371600"/>
            <a:ext cx="3474720" cy="2148840"/>
          </a:xfrm>
          <a:prstGeom prst="roundRect">
            <a:avLst>
              <a:gd name="adj" fmla="val 8000"/>
            </a:avLst>
          </a:prstGeom>
          <a:solidFill>
            <a:srgbClr val="E6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79" y="1481328"/>
            <a:ext cx="31089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F4D3A"/>
                </a:solidFill>
                <a:latin typeface="Calibri"/>
              </a:rPr>
              <a:t>Renas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79" y="1920240"/>
            <a:ext cx="31089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55555"/>
                </a:solidFill>
                <a:latin typeface="Calibri"/>
              </a:rPr>
              <a:t>9 threads · rena.c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79" y="2286000"/>
            <a:ext cx="3108960" cy="1234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contam-se em renas_prontas; a 9ª acorda Noel; esperam em cv_renas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35040" y="3566160"/>
            <a:ext cx="0" cy="411479"/>
          </a:xfrm>
          <a:prstGeom prst="line">
            <a:avLst/>
          </a:prstGeom>
          <a:ln w="25400">
            <a:solidFill>
              <a:srgbClr val="1F4D3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046719" y="1371600"/>
            <a:ext cx="3474720" cy="2148840"/>
          </a:xfrm>
          <a:prstGeom prst="roundRect">
            <a:avLst>
              <a:gd name="adj" fmla="val 8000"/>
            </a:avLst>
          </a:prstGeom>
          <a:solidFill>
            <a:srgbClr val="E6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19" y="1481328"/>
            <a:ext cx="31089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F4D3A"/>
                </a:solidFill>
                <a:latin typeface="Calibri"/>
              </a:rPr>
              <a:t>Elfos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19" y="1920240"/>
            <a:ext cx="31089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55555"/>
                </a:solidFill>
                <a:latin typeface="Calibri"/>
              </a:rPr>
              <a:t>N threads · elfo.c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19" y="2286000"/>
            <a:ext cx="3108960" cy="1234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entram no grupo aberto; o 3º fecha o grupo e acorda Noel; esperam em cv_elfos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784080" y="3566160"/>
            <a:ext cx="0" cy="411479"/>
          </a:xfrm>
          <a:prstGeom prst="line">
            <a:avLst/>
          </a:prstGeom>
          <a:ln w="25400">
            <a:solidFill>
              <a:srgbClr val="1F4D3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48640" y="4023360"/>
            <a:ext cx="11109960" cy="2103120"/>
          </a:xfrm>
          <a:prstGeom prst="roundRect">
            <a:avLst>
              <a:gd name="adj" fmla="val 8000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114800"/>
            <a:ext cx="106984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Oficina o  (main.c:171) — "todos os campos são protegidos por mutex" (comum.h:78)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709160"/>
            <a:ext cx="256032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1F4D3A"/>
                </a:solidFill>
                <a:latin typeface="Courier New"/>
              </a:rPr>
              <a:t>renas_prontas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74720" y="4709160"/>
            <a:ext cx="256032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1F4D3A"/>
                </a:solidFill>
                <a:latin typeface="Courier New"/>
              </a:rPr>
              <a:t>grupos[k] {n, estado}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09160"/>
            <a:ext cx="256032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1F4D3A"/>
                </a:solidFill>
                <a:latin typeface="Courier New"/>
              </a:rPr>
              <a:t>grupo_aberto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69680" y="4709160"/>
            <a:ext cx="256032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1F4D3A"/>
                </a:solidFill>
                <a:latin typeface="Courier New"/>
              </a:rPr>
              <a:t>grupos_fechados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349240"/>
            <a:ext cx="256032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1F4D3A"/>
                </a:solidFill>
                <a:latin typeface="Courier New"/>
              </a:rPr>
              <a:t>proximo_grupo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74720" y="5349240"/>
            <a:ext cx="256032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1F4D3A"/>
                </a:solidFill>
                <a:latin typeface="Courier New"/>
              </a:rPr>
              <a:t>viagem_iniciada / _concluida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5349240"/>
            <a:ext cx="256032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1F4D3A"/>
                </a:solidFill>
                <a:latin typeface="Courier New"/>
              </a:rPr>
              <a:t>abortar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69680" y="5349240"/>
            <a:ext cx="256032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1F4D3A"/>
                </a:solidFill>
                <a:latin typeface="Courier New"/>
              </a:rPr>
              <a:t>largada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Tema 11 — Problema do Papai Noel · Sistemas Operacionais (FAG)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81360" y="6419088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1F4D3A"/>
                </a:solidFill>
                <a:latin typeface="Cambria"/>
              </a:rPr>
              <a:t>Os 5 mecanismos: onde nascem e quem os usa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11109960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463040"/>
                <a:gridCol w="1737360"/>
                <a:gridCol w="3063240"/>
                <a:gridCol w="3246120"/>
              </a:tblGrid>
              <a:tr h="56692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Mecanismo</a:t>
                      </a:r>
                    </a:p>
                  </a:txBody>
                  <a:tcPr marL="73152" marR="73152" marT="27432" marB="27432" anchor="ctr">
                    <a:solidFill>
                      <a:srgbClr val="1F4D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Declarado</a:t>
                      </a:r>
                    </a:p>
                  </a:txBody>
                  <a:tcPr marL="73152" marR="73152" marT="27432" marB="27432" anchor="ctr">
                    <a:solidFill>
                      <a:srgbClr val="1F4D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Inicializado</a:t>
                      </a:r>
                    </a:p>
                  </a:txBody>
                  <a:tcPr marL="73152" marR="73152" marT="27432" marB="27432" anchor="ctr">
                    <a:solidFill>
                      <a:srgbClr val="1F4D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Quem espera</a:t>
                      </a:r>
                    </a:p>
                  </a:txBody>
                  <a:tcPr marL="73152" marR="73152" marT="27432" marB="27432" anchor="ctr">
                    <a:solidFill>
                      <a:srgbClr val="1F4D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Quem libera / avisa</a:t>
                      </a:r>
                    </a:p>
                  </a:txBody>
                  <a:tcPr marL="73152" marR="73152" marT="27432" marB="27432" anchor="ctr">
                    <a:solidFill>
                      <a:srgbClr val="1F4D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mutex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comum.h:82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B31B2B"/>
                          </a:solidFill>
                          <a:latin typeface="Calibri"/>
                        </a:rPr>
                        <a:t>main.c:131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qualquer thread no lock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a dona, no unlock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cv_largada</a:t>
                      </a:r>
                    </a:p>
                  </a:txBody>
                  <a:tcPr marL="73152" marR="73152" marT="27432" marB="27432" anchor="ctr">
                    <a:solidFill>
                      <a:srgbClr val="E6EF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comum.h:83</a:t>
                      </a:r>
                    </a:p>
                  </a:txBody>
                  <a:tcPr marL="73152" marR="73152" marT="27432" marB="27432" anchor="ctr">
                    <a:solidFill>
                      <a:srgbClr val="E6EF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main.c:132</a:t>
                      </a:r>
                    </a:p>
                  </a:txBody>
                  <a:tcPr marL="73152" marR="73152" marT="27432" marB="27432" anchor="ctr">
                    <a:solidFill>
                      <a:srgbClr val="E6EF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threads (main.c:30) e main (main.c:209)</a:t>
                      </a:r>
                    </a:p>
                  </a:txBody>
                  <a:tcPr marL="73152" marR="73152" marT="27432" marB="27432" anchor="ctr">
                    <a:solidFill>
                      <a:srgbClr val="E6EF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threads (main.c:28) e main (main.c:212)</a:t>
                      </a:r>
                    </a:p>
                  </a:txBody>
                  <a:tcPr marL="73152" marR="73152" marT="27432" marB="27432" anchor="ctr">
                    <a:solidFill>
                      <a:srgbClr val="E6EFE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cv_noel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comum.h:84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main.c:136-140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Noel (noel.c:101)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9ª rena (rena.c:33), 3º elfo (elfo.c:53)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cv_elfos</a:t>
                      </a:r>
                    </a:p>
                  </a:txBody>
                  <a:tcPr marL="73152" marR="73152" marT="27432" marB="27432" anchor="ctr">
                    <a:solidFill>
                      <a:srgbClr val="E6EF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comum.h:85</a:t>
                      </a:r>
                    </a:p>
                  </a:txBody>
                  <a:tcPr marL="73152" marR="73152" marT="27432" marB="27432" anchor="ctr">
                    <a:solidFill>
                      <a:srgbClr val="E6EF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main.c:133</a:t>
                      </a:r>
                    </a:p>
                  </a:txBody>
                  <a:tcPr marL="73152" marR="73152" marT="27432" marB="27432" anchor="ctr">
                    <a:solidFill>
                      <a:srgbClr val="E6EF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elfos (elfo.c:58)</a:t>
                      </a:r>
                    </a:p>
                  </a:txBody>
                  <a:tcPr marL="73152" marR="73152" marT="27432" marB="27432" anchor="ctr">
                    <a:solidFill>
                      <a:srgbClr val="E6EF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Noel (noel.c:73, 143)</a:t>
                      </a:r>
                    </a:p>
                  </a:txBody>
                  <a:tcPr marL="73152" marR="73152" marT="27432" marB="27432" anchor="ctr">
                    <a:solidFill>
                      <a:srgbClr val="E6EFE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cv_renas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comum.h:86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main.c:134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renas (rena.c:37)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Noel (noel.c:41, 144)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983480"/>
            <a:ext cx="1110996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Calibri"/>
              </a:rPr>
              <a:t>•  Biblioteca: POSIX Threads — #include &lt;pthread.h&gt; (comum.h:13), compilado com -pthread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Calibri"/>
              </a:rPr>
              <a:t>•  Inicializados antes de qualquer pthread_create (main.c:187) e destruídos só depois de todos os joins (main.c:215-222)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Tema 11 — Problema do Papai Noel · Sistemas Operacionais (FAG)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19088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1F4D3A"/>
                </a:solidFill>
                <a:latin typeface="Cambria"/>
              </a:rPr>
              <a:t>Como o mutex começa: main.c, linha 131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25880"/>
            <a:ext cx="6720840" cy="420624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417320"/>
            <a:ext cx="6501383" cy="402335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8A8A8A"/>
                </a:solidFill>
                <a:latin typeface="Courier New"/>
              </a:rPr>
              <a:t>main.c — iniciar_oficina(), chamada em main.c:172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ourier New"/>
              </a:rPr>
              <a:t>107 </a:t>
            </a:r>
            <a:r>
              <a:rPr sz="1300" b="0" i="0">
                <a:solidFill>
                  <a:srgbClr val="E8E8E8"/>
                </a:solidFill>
                <a:latin typeface="Courier New"/>
              </a:rPr>
              <a:t>static int iniciar_oficina(Oficina *o, const Config *c)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ourier New"/>
              </a:rPr>
              <a:t>108 </a:t>
            </a:r>
            <a:r>
              <a:rPr sz="1300" b="0" i="0">
                <a:solidFill>
                  <a:srgbClr val="E8E8E8"/>
                </a:solidFill>
                <a:latin typeface="Courier New"/>
              </a:rPr>
              <a:t>{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ourier New"/>
              </a:rPr>
              <a:t>109 </a:t>
            </a:r>
            <a:r>
              <a:rPr sz="1300" b="0" i="0">
                <a:solidFill>
                  <a:srgbClr val="E8E8E8"/>
                </a:solidFill>
                <a:latin typeface="Courier New"/>
              </a:rPr>
              <a:t>    memset(o, 0, sizeof *o);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ourier New"/>
              </a:rPr>
              <a:t>   ⋮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ourier New"/>
              </a:rPr>
              <a:t>131 </a:t>
            </a:r>
            <a:r>
              <a:rPr sz="1300" b="1" i="0">
                <a:solidFill>
                  <a:srgbClr val="F2C94C"/>
                </a:solidFill>
                <a:latin typeface="Courier New"/>
              </a:rPr>
              <a:t>    pthread_mutex_init(&amp;o-&gt;mutex, NULL);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ourier New"/>
              </a:rPr>
              <a:t>132 </a:t>
            </a:r>
            <a:r>
              <a:rPr sz="1300" b="0" i="0">
                <a:solidFill>
                  <a:srgbClr val="E8E8E8"/>
                </a:solidFill>
                <a:latin typeface="Courier New"/>
              </a:rPr>
              <a:t>    pthread_cond_init(&amp;o-&gt;cv_largada, NULL);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ourier New"/>
              </a:rPr>
              <a:t>133 </a:t>
            </a:r>
            <a:r>
              <a:rPr sz="1300" b="0" i="0">
                <a:solidFill>
                  <a:srgbClr val="E8E8E8"/>
                </a:solidFill>
                <a:latin typeface="Courier New"/>
              </a:rPr>
              <a:t>    pthread_cond_init(&amp;o-&gt;cv_elfos, NULL);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ourier New"/>
              </a:rPr>
              <a:t>134 </a:t>
            </a:r>
            <a:r>
              <a:rPr sz="1300" b="0" i="0">
                <a:solidFill>
                  <a:srgbClr val="E8E8E8"/>
                </a:solidFill>
                <a:latin typeface="Courier New"/>
              </a:rPr>
              <a:t>    pthread_cond_init(&amp;o-&gt;cv_renas, NULL);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ourier New"/>
              </a:rPr>
              <a:t>   ⋮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ourier New"/>
              </a:rPr>
              <a:t>136 </a:t>
            </a:r>
            <a:r>
              <a:rPr sz="1300" b="0" i="0">
                <a:solidFill>
                  <a:srgbClr val="E8E8E8"/>
                </a:solidFill>
                <a:latin typeface="Courier New"/>
              </a:rPr>
              <a:t>    pthread_condattr_t at;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ourier New"/>
              </a:rPr>
              <a:t>137 </a:t>
            </a:r>
            <a:r>
              <a:rPr sz="1300" b="0" i="0">
                <a:solidFill>
                  <a:srgbClr val="E8E8E8"/>
                </a:solidFill>
                <a:latin typeface="Courier New"/>
              </a:rPr>
              <a:t>    pthread_condattr_init(&amp;at);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ourier New"/>
              </a:rPr>
              <a:t>138 </a:t>
            </a:r>
            <a:r>
              <a:rPr sz="1300" b="1" i="0">
                <a:solidFill>
                  <a:srgbClr val="F2C94C"/>
                </a:solidFill>
                <a:latin typeface="Courier New"/>
              </a:rPr>
              <a:t>    pthread_condattr_setclock(&amp;at, CLOCK_MONOTONIC);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ourier New"/>
              </a:rPr>
              <a:t>139 </a:t>
            </a:r>
            <a:r>
              <a:rPr sz="1300" b="0" i="0">
                <a:solidFill>
                  <a:srgbClr val="E8E8E8"/>
                </a:solidFill>
                <a:latin typeface="Courier New"/>
              </a:rPr>
              <a:t>    pthread_cond_init(&amp;o-&gt;cv_noel, &amp;at);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ourier New"/>
              </a:rPr>
              <a:t>140 </a:t>
            </a:r>
            <a:r>
              <a:rPr sz="1300" b="0" i="0">
                <a:solidFill>
                  <a:srgbClr val="E8E8E8"/>
                </a:solidFill>
                <a:latin typeface="Courier New"/>
              </a:rPr>
              <a:t>    pthread_condattr_destroy(&amp;at);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43800" y="1325880"/>
            <a:ext cx="4114800" cy="4297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1" i="0">
                <a:solidFill>
                  <a:srgbClr val="B31B2B"/>
                </a:solidFill>
                <a:latin typeface="Courier New"/>
              </a:rPr>
              <a:t>pthread_mutex_init(&amp;o-&gt;mutex, NULL)</a:t>
            </a:r>
          </a:p>
          <a:p>
            <a:pPr algn="l">
              <a:spcAft>
                <a:spcPts val="7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•  1º arg: endereço do mutex (campo da Oficina)</a:t>
            </a:r>
          </a:p>
          <a:p>
            <a:pPr algn="l">
              <a:spcAft>
                <a:spcPts val="7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•  2º arg: NULL = atributos padrão (não recursivo, privado ao processo)</a:t>
            </a:r>
          </a:p>
          <a:p>
            <a:pPr algn="l">
              <a:spcAft>
                <a:spcPts val="700"/>
              </a:spcAft>
            </a:pPr>
            <a:r>
              <a:rPr sz="1500" b="1" i="0">
                <a:solidFill>
                  <a:srgbClr val="1A1A1A"/>
                </a:solidFill>
                <a:latin typeface="Calibri"/>
              </a:rPr>
              <a:t>•  Estado inicial: destravado, sem dono — a 1ª thread que der lock entra</a:t>
            </a:r>
          </a:p>
          <a:p>
            <a:pPr algn="l">
              <a:spcAft>
                <a:spcPts val="7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•  O memset da linha 109 zera os contadores, mas não é a inicialização do mutex pela POSIX</a:t>
            </a:r>
          </a:p>
          <a:p>
            <a:pPr algn="l">
              <a:spcAft>
                <a:spcPts val="700"/>
              </a:spcAft>
            </a:pPr>
            <a:r>
              <a:rPr sz="1500" b="0" i="0">
                <a:solidFill>
                  <a:srgbClr val="555555"/>
                </a:solidFill>
                <a:latin typeface="Calibri"/>
              </a:rPr>
              <a:t>•  Retorno do init não é verificado (ponto de robustez)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5669280"/>
            <a:ext cx="11109960" cy="548640"/>
          </a:xfrm>
          <a:prstGeom prst="roundRect">
            <a:avLst>
              <a:gd name="adj" fmla="val 8000"/>
            </a:avLst>
          </a:prstGeom>
          <a:solidFill>
            <a:srgbClr val="E6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687568"/>
            <a:ext cx="10789920" cy="51206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Linha 138: cv_noel usa CLOCK_MONOTONIC — o prazo do timeout (t0 + 2000 ms, noel.c:83) é medido no mesmo relógio de t0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Tema 11 — Problema do Papai Noel · Sistemas Operacionais (FAG)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19088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1F4D3A"/>
                </a:solidFill>
                <a:latin typeface="Cambria"/>
              </a:rPr>
              <a:t>Valores iniciais e o que significam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25880"/>
          <a:ext cx="11109960" cy="44439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9080"/>
                <a:gridCol w="1783080"/>
                <a:gridCol w="2057400"/>
                <a:gridCol w="3200400"/>
              </a:tblGrid>
              <a:tr h="493776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Mecanismo / variável</a:t>
                      </a:r>
                    </a:p>
                  </a:txBody>
                  <a:tcPr marL="73152" marR="73152" marT="27432" marB="27432" anchor="ctr">
                    <a:solidFill>
                      <a:srgbClr val="1F4D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Valor inicial</a:t>
                      </a:r>
                    </a:p>
                  </a:txBody>
                  <a:tcPr marL="73152" marR="73152" marT="27432" marB="27432" anchor="ctr">
                    <a:solidFill>
                      <a:srgbClr val="1F4D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Onde</a:t>
                      </a:r>
                    </a:p>
                  </a:txBody>
                  <a:tcPr marL="73152" marR="73152" marT="27432" marB="27432" anchor="ctr">
                    <a:solidFill>
                      <a:srgbClr val="1F4D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Significado</a:t>
                      </a:r>
                    </a:p>
                  </a:txBody>
                  <a:tcPr marL="73152" marR="73152" marT="27432" marB="27432" anchor="ctr">
                    <a:solidFill>
                      <a:srgbClr val="1F4D3A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mutex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destravado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main.c:131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ninguém na seção crítica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cv_largada, cv_elfos, cv_renas, cv_noel</a:t>
                      </a:r>
                    </a:p>
                  </a:txBody>
                  <a:tcPr marL="73152" marR="73152" marT="27432" marB="27432" anchor="ctr">
                    <a:solidFill>
                      <a:srgbClr val="E6EF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fila vazia</a:t>
                      </a:r>
                    </a:p>
                  </a:txBody>
                  <a:tcPr marL="73152" marR="73152" marT="27432" marB="27432" anchor="ctr">
                    <a:solidFill>
                      <a:srgbClr val="E6EF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main.c:132-140</a:t>
                      </a:r>
                    </a:p>
                  </a:txBody>
                  <a:tcPr marL="73152" marR="73152" marT="27432" marB="27432" anchor="ctr">
                    <a:solidFill>
                      <a:srgbClr val="E6EF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variável de condição não tem valor</a:t>
                      </a:r>
                    </a:p>
                  </a:txBody>
                  <a:tcPr marL="73152" marR="73152" marT="27432" marB="27432" anchor="ctr">
                    <a:solidFill>
                      <a:srgbClr val="E6EFEA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largada, threads_prontas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0, 0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memset main.c:109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ninguém começa antes da main dar o sinal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total_threads</a:t>
                      </a:r>
                    </a:p>
                  </a:txBody>
                  <a:tcPr marL="73152" marR="73152" marT="27432" marB="27432" anchor="ctr">
                    <a:solidFill>
                      <a:srgbClr val="E6EF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1 + 9 + N</a:t>
                      </a:r>
                    </a:p>
                  </a:txBody>
                  <a:tcPr marL="73152" marR="73152" marT="27432" marB="27432" anchor="ctr">
                    <a:solidFill>
                      <a:srgbClr val="E6EF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main.c:112</a:t>
                      </a:r>
                    </a:p>
                  </a:txBody>
                  <a:tcPr marL="73152" marR="73152" marT="27432" marB="27432" anchor="ctr">
                    <a:solidFill>
                      <a:srgbClr val="E6EF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quantas a largada espera</a:t>
                      </a:r>
                    </a:p>
                  </a:txBody>
                  <a:tcPr marL="73152" marR="73152" marT="27432" marB="27432" anchor="ctr">
                    <a:solidFill>
                      <a:srgbClr val="E6EFEA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renas_prontas, viagem_iniciada/_concluida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0, 0, 0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memset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nenhuma rena, nenhuma viagem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grupos[k].n, .estado</a:t>
                      </a:r>
                    </a:p>
                  </a:txBody>
                  <a:tcPr marL="73152" marR="73152" marT="27432" marB="27432" anchor="ctr">
                    <a:solidFill>
                      <a:srgbClr val="E6EF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0, GRUPO_ABERTO</a:t>
                      </a:r>
                    </a:p>
                  </a:txBody>
                  <a:tcPr marL="73152" marR="73152" marT="27432" marB="27432" anchor="ctr">
                    <a:solidFill>
                      <a:srgbClr val="E6EF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calloc main.c:116</a:t>
                      </a:r>
                    </a:p>
                  </a:txBody>
                  <a:tcPr marL="73152" marR="73152" marT="27432" marB="27432" anchor="ctr">
                    <a:solidFill>
                      <a:srgbClr val="E6EF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todos os grupos vazios e abertos</a:t>
                      </a:r>
                    </a:p>
                  </a:txBody>
                  <a:tcPr marL="73152" marR="73152" marT="27432" marB="27432" anchor="ctr">
                    <a:solidFill>
                      <a:srgbClr val="E6EFEA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grupo_aberto, grupos_fechados, proximo_grupo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0, 0, 0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memset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1º grupo recebe elfos; fila vazia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estado de Noel / abortar</a:t>
                      </a:r>
                    </a:p>
                  </a:txBody>
                  <a:tcPr marL="73152" marR="73152" marT="27432" marB="27432" anchor="ctr">
                    <a:solidFill>
                      <a:srgbClr val="E6EF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DORMINDO / 0</a:t>
                      </a:r>
                    </a:p>
                  </a:txBody>
                  <a:tcPr marL="73152" marR="73152" marT="27432" marB="27432" anchor="ctr">
                    <a:solidFill>
                      <a:srgbClr val="E6EF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main.c:113 / memset</a:t>
                      </a:r>
                    </a:p>
                  </a:txBody>
                  <a:tcPr marL="73152" marR="73152" marT="27432" marB="27432" anchor="ctr">
                    <a:solidFill>
                      <a:srgbClr val="E6EF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sem tarefa; sem timeout</a:t>
                      </a:r>
                    </a:p>
                  </a:txBody>
                  <a:tcPr marL="73152" marR="73152" marT="27432" marB="27432" anchor="ctr">
                    <a:solidFill>
                      <a:srgbClr val="E6EFE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852160"/>
            <a:ext cx="111099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555555"/>
                </a:solidFill>
                <a:latin typeface="Calibri"/>
              </a:rPr>
              <a:t>Numa variável de condição, o "valor inicial" que importa é o das variáveis do predicado — a memória está nelas, não na fila.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Tema 11 — Problema do Papai Noel · Sistemas Operacionais (FAG)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19088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1F4D3A"/>
                </a:solidFill>
                <a:latin typeface="Cambria"/>
              </a:rPr>
              <a:t>Seções críticas: quem trava, quem solta, o que protege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25880"/>
          <a:ext cx="1110996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645920"/>
                <a:gridCol w="1965960"/>
                <a:gridCol w="5943600"/>
              </a:tblGrid>
              <a:tr h="530352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Thread</a:t>
                      </a:r>
                    </a:p>
                  </a:txBody>
                  <a:tcPr marL="73152" marR="73152" marT="27432" marB="27432" anchor="ctr">
                    <a:solidFill>
                      <a:srgbClr val="1F4D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lock</a:t>
                      </a:r>
                    </a:p>
                  </a:txBody>
                  <a:tcPr marL="73152" marR="73152" marT="27432" marB="27432" anchor="ctr">
                    <a:solidFill>
                      <a:srgbClr val="1F4D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unlock</a:t>
                      </a:r>
                    </a:p>
                  </a:txBody>
                  <a:tcPr marL="73152" marR="73152" marT="27432" marB="27432" anchor="ctr">
                    <a:solidFill>
                      <a:srgbClr val="1F4D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Dentro da seção crítica</a:t>
                      </a:r>
                    </a:p>
                  </a:txBody>
                  <a:tcPr marL="73152" marR="73152" marT="27432" marB="27432" anchor="ctr">
                    <a:solidFill>
                      <a:srgbClr val="1F4D3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main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main.c:207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main.c:213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espera todas prontas, grava t0, largada = 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Noel</a:t>
                      </a:r>
                    </a:p>
                  </a:txBody>
                  <a:tcPr marL="73152" marR="73152" marT="27432" marB="27432" anchor="ctr">
                    <a:solidFill>
                      <a:srgbClr val="E6EF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noel.c:81</a:t>
                      </a:r>
                    </a:p>
                  </a:txBody>
                  <a:tcPr marL="73152" marR="73152" marT="27432" marB="27432" anchor="ctr">
                    <a:solidFill>
                      <a:srgbClr val="E6EF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noel.c:145</a:t>
                      </a:r>
                    </a:p>
                  </a:txBody>
                  <a:tcPr marL="73152" marR="73152" marT="27432" marB="27432" anchor="ctr">
                    <a:solidFill>
                      <a:srgbClr val="E6EF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laço de decisão inteiro (lê renas_ok/elfos_ok, decide, marca estados)</a:t>
                      </a:r>
                    </a:p>
                  </a:txBody>
                  <a:tcPr marL="73152" marR="73152" marT="27432" marB="27432" anchor="ctr">
                    <a:solidFill>
                      <a:srgbClr val="E6EFE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Noel (sleep)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noel.c:33 / 62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noel.c:31 / 60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solta o mutex só para dormir 5 ms / 3 ms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Rena</a:t>
                      </a:r>
                    </a:p>
                  </a:txBody>
                  <a:tcPr marL="73152" marR="73152" marT="27432" marB="27432" anchor="ctr">
                    <a:solidFill>
                      <a:srgbClr val="E6EF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rena.c:23</a:t>
                      </a:r>
                    </a:p>
                  </a:txBody>
                  <a:tcPr marL="73152" marR="73152" marT="27432" marB="27432" anchor="ctr">
                    <a:solidFill>
                      <a:srgbClr val="E6EF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rena.c:25 / 38</a:t>
                      </a:r>
                    </a:p>
                  </a:txBody>
                  <a:tcPr marL="73152" marR="73152" marT="27432" marB="27432" anchor="ctr">
                    <a:solidFill>
                      <a:srgbClr val="E6EF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renas_prontas++, avisa Noel se 9ª, espera a viagem</a:t>
                      </a:r>
                    </a:p>
                  </a:txBody>
                  <a:tcPr marL="73152" marR="73152" marT="27432" marB="27432" anchor="ctr">
                    <a:solidFill>
                      <a:srgbClr val="E6EFE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Elfo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elfo.c:27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elfo.c:29 / 38 / 59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inscreve-se, fecha o grupo se 3º, espera o fim da ajuda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548640" y="4709160"/>
            <a:ext cx="5440680" cy="1463040"/>
          </a:xfrm>
          <a:prstGeom prst="roundRect">
            <a:avLst>
              <a:gd name="adj" fmla="val 8000"/>
            </a:avLst>
          </a:prstGeom>
          <a:solidFill>
            <a:srgbClr val="E6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773168"/>
            <a:ext cx="5120640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F4D3A"/>
                </a:solidFill>
                <a:latin typeface="Calibri"/>
              </a:rPr>
              <a:t>Todo caminho que trava também solta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o elfo tem 3 saídas (timeout, invasão detectada, normal) e as 3 chamam unlock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4709160"/>
            <a:ext cx="5440680" cy="1463040"/>
          </a:xfrm>
          <a:prstGeom prst="roundRect">
            <a:avLst>
              <a:gd name="adj" fmla="val 8000"/>
            </a:avLst>
          </a:prstGeom>
          <a:solidFill>
            <a:srgbClr val="FB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4773168"/>
            <a:ext cx="5120640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B31B2B"/>
                </a:solidFill>
                <a:latin typeface="Calibri"/>
              </a:rPr>
              <a:t>Esquecer um unlock trava tudo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nem o timeout salva: o timedwait de Noel precisa readquirir o mutex para retornar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Tema 11 — Problema do Papai Noel · Sistemas Operacionais (FAG)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19088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1F4D3A"/>
                </a:solidFill>
                <a:latin typeface="Cambria"/>
              </a:rPr>
              <a:t>Esperar sem gastar CPU: o padrão while + wait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25880"/>
            <a:ext cx="5120640" cy="160020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417320"/>
            <a:ext cx="4901183" cy="1417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8A8A8A"/>
                </a:solidFill>
                <a:latin typeface="Courier New"/>
              </a:rPr>
              <a:t>quem espera — rena.c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A8A8A"/>
                </a:solidFill>
                <a:latin typeface="Courier New"/>
              </a:rPr>
              <a:t> 36 </a:t>
            </a:r>
            <a:r>
              <a:rPr sz="1200" b="1" i="0">
                <a:solidFill>
                  <a:srgbClr val="F2C94C"/>
                </a:solidFill>
                <a:latin typeface="Courier New"/>
              </a:rPr>
              <a:t>while (!o-&gt;viagem_concluida &amp;&amp; !o-&gt;abortar)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A8A8A"/>
                </a:solidFill>
                <a:latin typeface="Courier New"/>
              </a:rPr>
              <a:t> 37 </a:t>
            </a:r>
            <a:r>
              <a:rPr sz="1200" b="1" i="0">
                <a:solidFill>
                  <a:srgbClr val="F2C94C"/>
                </a:solidFill>
                <a:latin typeface="Courier New"/>
              </a:rPr>
              <a:t>    pthread_cond_wait(&amp;o-&gt;cv_renas, &amp;o-&gt;mutex);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A8A8A"/>
                </a:solidFill>
                <a:latin typeface="Courier New"/>
              </a:rPr>
              <a:t> 38 </a:t>
            </a:r>
            <a:r>
              <a:rPr sz="1200" b="0" i="0">
                <a:solidFill>
                  <a:srgbClr val="E8E8E8"/>
                </a:solidFill>
                <a:latin typeface="Courier New"/>
              </a:rPr>
              <a:t>pthread_mutex_unlock(&amp;o-&gt;mutex);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108960"/>
            <a:ext cx="5120640" cy="160020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3200400"/>
            <a:ext cx="4901183" cy="1417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8A8A8A"/>
                </a:solidFill>
                <a:latin typeface="Courier New"/>
              </a:rPr>
              <a:t>quem avisa — noel.c, preparar_viagem()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ourier New"/>
              </a:rPr>
              <a:t> 37 </a:t>
            </a:r>
            <a:r>
              <a:rPr sz="1300" b="1" i="0">
                <a:solidFill>
                  <a:srgbClr val="F2C94C"/>
                </a:solidFill>
                <a:latin typeface="Courier New"/>
              </a:rPr>
              <a:t>o-&gt;viagem_concluida = 1;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ourier New"/>
              </a:rPr>
              <a:t>   ⋮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ourier New"/>
              </a:rPr>
              <a:t> 41 </a:t>
            </a:r>
            <a:r>
              <a:rPr sz="1300" b="1" i="0">
                <a:solidFill>
                  <a:srgbClr val="F2C94C"/>
                </a:solidFill>
                <a:latin typeface="Courier New"/>
              </a:rPr>
              <a:t>pthread_cond_broadcast(&amp;o-&gt;cv_renas);</a:t>
            </a:r>
          </a:p>
        </p:txBody>
      </p:sp>
      <p:sp>
        <p:nvSpPr>
          <p:cNvPr id="7" name="Oval 6"/>
          <p:cNvSpPr/>
          <p:nvPr/>
        </p:nvSpPr>
        <p:spPr>
          <a:xfrm>
            <a:off x="5989320" y="1371600"/>
            <a:ext cx="475488" cy="475488"/>
          </a:xfrm>
          <a:prstGeom prst="ellipse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335024"/>
            <a:ext cx="5074920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Com o mutex, testa o predicado: viagem_concluida?</a:t>
            </a:r>
          </a:p>
        </p:txBody>
      </p:sp>
      <p:sp>
        <p:nvSpPr>
          <p:cNvPr id="9" name="Oval 8"/>
          <p:cNvSpPr/>
          <p:nvPr/>
        </p:nvSpPr>
        <p:spPr>
          <a:xfrm>
            <a:off x="5989320" y="2039112"/>
            <a:ext cx="475488" cy="475488"/>
          </a:xfrm>
          <a:prstGeom prst="ellipse">
            <a:avLst/>
          </a:prstGeom>
          <a:solidFill>
            <a:srgbClr val="B3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002536"/>
            <a:ext cx="5074920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Falso → pthread_cond_wait solta o mutex e dorme numa única operação atômica</a:t>
            </a:r>
          </a:p>
        </p:txBody>
      </p:sp>
      <p:sp>
        <p:nvSpPr>
          <p:cNvPr id="11" name="Oval 10"/>
          <p:cNvSpPr/>
          <p:nvPr/>
        </p:nvSpPr>
        <p:spPr>
          <a:xfrm>
            <a:off x="5989320" y="2706624"/>
            <a:ext cx="475488" cy="475488"/>
          </a:xfrm>
          <a:prstGeom prst="ellipse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670048"/>
            <a:ext cx="5074920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Noel muda o estado (linha 37) e faz broadcast (linha 41)</a:t>
            </a:r>
          </a:p>
        </p:txBody>
      </p:sp>
      <p:sp>
        <p:nvSpPr>
          <p:cNvPr id="13" name="Oval 12"/>
          <p:cNvSpPr/>
          <p:nvPr/>
        </p:nvSpPr>
        <p:spPr>
          <a:xfrm>
            <a:off x="5989320" y="3374136"/>
            <a:ext cx="475488" cy="475488"/>
          </a:xfrm>
          <a:prstGeom prst="ellipse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337560"/>
            <a:ext cx="5074920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A rena acorda, retrava o mutex e testa de novo (while)</a:t>
            </a:r>
          </a:p>
        </p:txBody>
      </p:sp>
      <p:sp>
        <p:nvSpPr>
          <p:cNvPr id="15" name="Oval 14"/>
          <p:cNvSpPr/>
          <p:nvPr/>
        </p:nvSpPr>
        <p:spPr>
          <a:xfrm>
            <a:off x="5989320" y="4041648"/>
            <a:ext cx="475488" cy="475488"/>
          </a:xfrm>
          <a:prstGeom prst="ellipse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005072"/>
            <a:ext cx="5074920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Verdadeiro → sai do laço e solta o mutex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983480"/>
            <a:ext cx="11109960" cy="1188720"/>
          </a:xfrm>
          <a:prstGeom prst="roundRect">
            <a:avLst>
              <a:gd name="adj" fmla="val 8000"/>
            </a:avLst>
          </a:prstGeom>
          <a:solidFill>
            <a:srgbClr val="E6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029200"/>
            <a:ext cx="1069848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F4D3A"/>
                </a:solidFill>
                <a:latin typeface="Calibri"/>
              </a:rPr>
              <a:t>Por que while e não if: </a:t>
            </a:r>
            <a:r>
              <a:rPr sz="1600" b="0" i="0">
                <a:solidFill>
                  <a:srgbClr val="1A1A1A"/>
                </a:solidFill>
                <a:latin typeface="Calibri"/>
              </a:rPr>
              <a:t>acordar espúrio é permitido, e outra thread pode mudar o estado antes de você retravar.</a:t>
            </a:r>
          </a:p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F4D3A"/>
                </a:solidFill>
                <a:latin typeface="Calibri"/>
              </a:rPr>
              <a:t>A cond var não guarda avisos: </a:t>
            </a:r>
            <a:r>
              <a:rPr sz="1600" b="0" i="0">
                <a:solidFill>
                  <a:srgbClr val="1A1A1A"/>
                </a:solidFill>
                <a:latin typeface="Calibri"/>
              </a:rPr>
              <a:t>a verdade está nas variáveis protegidas pelo mutex — o sinal só diz "olhe de novo".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Tema 11 — Problema do Papai Noel · Sistemas Operacionais (FAG)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6419088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1F4D3A"/>
                </a:solidFill>
                <a:latin typeface="Cambria"/>
              </a:rPr>
              <a:t>Sequência real: a 9ª rena acorda Noel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600200"/>
            <a:ext cx="141732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1" i="0">
                <a:solidFill>
                  <a:srgbClr val="1A1A1A"/>
                </a:solidFill>
                <a:latin typeface="Calibri"/>
              </a:rPr>
              <a:t>Noel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874519" y="1828800"/>
            <a:ext cx="9875521" cy="0"/>
          </a:xfrm>
          <a:prstGeom prst="line">
            <a:avLst/>
          </a:prstGeom>
          <a:ln w="19050">
            <a:solidFill>
              <a:srgbClr val="C9C8C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3337560"/>
            <a:ext cx="141732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1" i="0">
                <a:solidFill>
                  <a:srgbClr val="1A1A1A"/>
                </a:solidFill>
                <a:latin typeface="Calibri"/>
              </a:rPr>
              <a:t>9ª rena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874519" y="3566160"/>
            <a:ext cx="9875521" cy="0"/>
          </a:xfrm>
          <a:prstGeom prst="line">
            <a:avLst/>
          </a:prstGeom>
          <a:ln w="19050">
            <a:solidFill>
              <a:srgbClr val="C9C8C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65760" y="4892040"/>
            <a:ext cx="141732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1" i="0">
                <a:solidFill>
                  <a:srgbClr val="1A1A1A"/>
                </a:solidFill>
                <a:latin typeface="Calibri"/>
              </a:rPr>
              <a:t>outras renas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74519" y="5120640"/>
            <a:ext cx="9875521" cy="0"/>
          </a:xfrm>
          <a:prstGeom prst="line">
            <a:avLst/>
          </a:prstGeom>
          <a:ln w="19050">
            <a:solidFill>
              <a:srgbClr val="C9C8C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920240" y="1307592"/>
            <a:ext cx="1051560" cy="1051560"/>
          </a:xfrm>
          <a:prstGeom prst="roundRect">
            <a:avLst>
              <a:gd name="adj" fmla="val 8000"/>
            </a:avLst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timedwait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cv_noel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noel.c:101</a:t>
            </a:r>
          </a:p>
        </p:txBody>
      </p:sp>
      <p:sp>
        <p:nvSpPr>
          <p:cNvPr id="10" name="Oval 9"/>
          <p:cNvSpPr/>
          <p:nvPr/>
        </p:nvSpPr>
        <p:spPr>
          <a:xfrm>
            <a:off x="1847088" y="1197864"/>
            <a:ext cx="310896" cy="3108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63240" y="3044952"/>
            <a:ext cx="1051560" cy="1051560"/>
          </a:xfrm>
          <a:prstGeom prst="roundRect">
            <a:avLst>
              <a:gd name="adj" fmla="val 8000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lock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rena.c:23</a:t>
            </a:r>
          </a:p>
        </p:txBody>
      </p:sp>
      <p:sp>
        <p:nvSpPr>
          <p:cNvPr id="12" name="Oval 11"/>
          <p:cNvSpPr/>
          <p:nvPr/>
        </p:nvSpPr>
        <p:spPr>
          <a:xfrm>
            <a:off x="2990088" y="2935224"/>
            <a:ext cx="310896" cy="3108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3044952"/>
            <a:ext cx="1051560" cy="1051560"/>
          </a:xfrm>
          <a:prstGeom prst="roundRect">
            <a:avLst>
              <a:gd name="adj" fmla="val 8000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renas_prontas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= 9  (l.28)</a:t>
            </a:r>
          </a:p>
        </p:txBody>
      </p:sp>
      <p:sp>
        <p:nvSpPr>
          <p:cNvPr id="14" name="Oval 13"/>
          <p:cNvSpPr/>
          <p:nvPr/>
        </p:nvSpPr>
        <p:spPr>
          <a:xfrm>
            <a:off x="4133087" y="2935224"/>
            <a:ext cx="310896" cy="3108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49240" y="3044952"/>
            <a:ext cx="1051560" cy="1051560"/>
          </a:xfrm>
          <a:prstGeom prst="roundRect">
            <a:avLst>
              <a:gd name="adj" fmla="val 8000"/>
            </a:avLst>
          </a:prstGeom>
          <a:solidFill>
            <a:srgbClr val="B3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signal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cv_noel (l.33)</a:t>
            </a:r>
          </a:p>
        </p:txBody>
      </p:sp>
      <p:sp>
        <p:nvSpPr>
          <p:cNvPr id="16" name="Oval 15"/>
          <p:cNvSpPr/>
          <p:nvPr/>
        </p:nvSpPr>
        <p:spPr>
          <a:xfrm>
            <a:off x="5276088" y="2935224"/>
            <a:ext cx="310896" cy="3108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1307592"/>
            <a:ext cx="1051560" cy="1051560"/>
          </a:xfrm>
          <a:prstGeom prst="roundRect">
            <a:avLst>
              <a:gd name="adj" fmla="val 8000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acorda, retrava,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reavalia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noel.c:107, 89</a:t>
            </a:r>
          </a:p>
        </p:txBody>
      </p:sp>
      <p:sp>
        <p:nvSpPr>
          <p:cNvPr id="18" name="Oval 17"/>
          <p:cNvSpPr/>
          <p:nvPr/>
        </p:nvSpPr>
        <p:spPr>
          <a:xfrm>
            <a:off x="6419088" y="1197864"/>
            <a:ext cx="310896" cy="3108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35240" y="1307592"/>
            <a:ext cx="1051560" cy="1051560"/>
          </a:xfrm>
          <a:prstGeom prst="roundRect">
            <a:avLst>
              <a:gd name="adj" fmla="val 8000"/>
            </a:avLst>
          </a:prstGeom>
          <a:solidFill>
            <a:srgbClr val="B3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decide viagem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noel.c:117</a:t>
            </a:r>
          </a:p>
        </p:txBody>
      </p:sp>
      <p:sp>
        <p:nvSpPr>
          <p:cNvPr id="20" name="Oval 19"/>
          <p:cNvSpPr/>
          <p:nvPr/>
        </p:nvSpPr>
        <p:spPr>
          <a:xfrm>
            <a:off x="7562088" y="1197864"/>
            <a:ext cx="310896" cy="3108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78240" y="1307592"/>
            <a:ext cx="1051560" cy="1051560"/>
          </a:xfrm>
          <a:prstGeom prst="roundRect">
            <a:avLst>
              <a:gd name="adj" fmla="val 8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unlock, dorme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 ms, lock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noel.c:31-33</a:t>
            </a:r>
          </a:p>
        </p:txBody>
      </p:sp>
      <p:sp>
        <p:nvSpPr>
          <p:cNvPr id="22" name="Oval 21"/>
          <p:cNvSpPr/>
          <p:nvPr/>
        </p:nvSpPr>
        <p:spPr>
          <a:xfrm>
            <a:off x="8705088" y="1197864"/>
            <a:ext cx="310896" cy="3108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921240" y="1307592"/>
            <a:ext cx="1051560" cy="1051560"/>
          </a:xfrm>
          <a:prstGeom prst="roundRect">
            <a:avLst>
              <a:gd name="adj" fmla="val 8000"/>
            </a:avLst>
          </a:prstGeom>
          <a:solidFill>
            <a:srgbClr val="B3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concluída = 1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broadcast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noel.c:37, 41</a:t>
            </a:r>
          </a:p>
        </p:txBody>
      </p:sp>
      <p:sp>
        <p:nvSpPr>
          <p:cNvPr id="24" name="Oval 23"/>
          <p:cNvSpPr/>
          <p:nvPr/>
        </p:nvSpPr>
        <p:spPr>
          <a:xfrm>
            <a:off x="9848088" y="1197864"/>
            <a:ext cx="310896" cy="3108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92240" y="3044952"/>
            <a:ext cx="1051560" cy="1051560"/>
          </a:xfrm>
          <a:prstGeom prst="roundRect">
            <a:avLst>
              <a:gd name="adj" fmla="val 8000"/>
            </a:avLst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wait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cv_renas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rena.c:37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921240" y="461772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acordam 1 a 1,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retravam, saem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rena.c:36-38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5897880" y="2148840"/>
            <a:ext cx="594360" cy="868680"/>
          </a:xfrm>
          <a:prstGeom prst="line">
            <a:avLst/>
          </a:prstGeom>
          <a:ln w="28575">
            <a:solidFill>
              <a:srgbClr val="B31B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744200" y="2377440"/>
            <a:ext cx="0" cy="2240280"/>
          </a:xfrm>
          <a:prstGeom prst="line">
            <a:avLst/>
          </a:prstGeom>
          <a:ln w="28575">
            <a:solidFill>
              <a:srgbClr val="B31B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48640" y="5852160"/>
            <a:ext cx="111099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555555"/>
                </a:solidFill>
                <a:latin typeface="Calibri"/>
              </a:rPr>
              <a:t>Dados reais (E06_R10_rep1): 9ª rena em 10,091 ms → decisão em 10,108 ms — resposta média às renas na matriz ≈ 18 µs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Tema 11 — Problema do Papai Noel · Sistemas Operacionais (FAG)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419088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1F4D3A"/>
                </a:solidFill>
                <a:latin typeface="Cambria"/>
              </a:rPr>
              <a:t>Formação de grupos: o 4º elfo nunca entra no grupo cheio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25880"/>
          <a:ext cx="9372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3931920"/>
                <a:gridCol w="777240"/>
                <a:gridCol w="777240"/>
                <a:gridCol w="1463040"/>
                <a:gridCol w="1691640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Elfo</a:t>
                      </a:r>
                    </a:p>
                  </a:txBody>
                  <a:tcPr marL="73152" marR="73152" marT="27432" marB="27432" anchor="ctr">
                    <a:solidFill>
                      <a:srgbClr val="1F4D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Ação (com o mutex)</a:t>
                      </a:r>
                    </a:p>
                  </a:txBody>
                  <a:tcPr marL="73152" marR="73152" marT="27432" marB="27432" anchor="ctr">
                    <a:solidFill>
                      <a:srgbClr val="1F4D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g0.n</a:t>
                      </a:r>
                    </a:p>
                  </a:txBody>
                  <a:tcPr marL="73152" marR="73152" marT="27432" marB="27432" anchor="ctr">
                    <a:solidFill>
                      <a:srgbClr val="1F4D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g1.n</a:t>
                      </a:r>
                    </a:p>
                  </a:txBody>
                  <a:tcPr marL="73152" marR="73152" marT="27432" marB="27432" anchor="ctr">
                    <a:solidFill>
                      <a:srgbClr val="1F4D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grupo_aberto</a:t>
                      </a:r>
                    </a:p>
                  </a:txBody>
                  <a:tcPr marL="73152" marR="73152" marT="27432" marB="27432" anchor="ctr">
                    <a:solidFill>
                      <a:srgbClr val="1F4D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grupos_fechados</a:t>
                      </a:r>
                    </a:p>
                  </a:txBody>
                  <a:tcPr marL="73152" marR="73152" marT="27432" marB="27432" anchor="ctr">
                    <a:solidFill>
                      <a:srgbClr val="1F4D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entra em g0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E6EF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entra em g0</a:t>
                      </a:r>
                    </a:p>
                  </a:txBody>
                  <a:tcPr marL="73152" marR="73152" marT="27432" marB="27432" anchor="ctr">
                    <a:solidFill>
                      <a:srgbClr val="E6EF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E6EF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E6EF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E6EF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E6EFE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B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B31B2B"/>
                          </a:solidFill>
                          <a:latin typeface="Calibri"/>
                        </a:rPr>
                        <a:t>entra em g0 → PRONTO, signal(cv_noel)</a:t>
                      </a:r>
                    </a:p>
                  </a:txBody>
                  <a:tcPr marL="73152" marR="73152" marT="27432" marB="27432" anchor="ctr">
                    <a:solidFill>
                      <a:srgbClr val="FB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B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B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B31B2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B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B31B2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BEC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E6EF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entra em g1 (g0 já não é o aberto)</a:t>
                      </a:r>
                    </a:p>
                  </a:txBody>
                  <a:tcPr marL="73152" marR="73152" marT="27432" marB="27432" anchor="ctr">
                    <a:solidFill>
                      <a:srgbClr val="E6EF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E6EF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E6EF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E6EF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E6EFE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entra em g1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E6EF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entra em g1 → PRONTO, signal (último: não avança)</a:t>
                      </a:r>
                    </a:p>
                  </a:txBody>
                  <a:tcPr marL="73152" marR="73152" marT="27432" marB="27432" anchor="ctr">
                    <a:solidFill>
                      <a:srgbClr val="E6EF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E6EF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E6EF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E6EF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E6EFEA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548640" y="4663440"/>
            <a:ext cx="9372600" cy="155448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754879"/>
            <a:ext cx="9153144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A8A8A"/>
                </a:solidFill>
                <a:latin typeface="Courier New"/>
              </a:rPr>
              <a:t> 45 </a:t>
            </a:r>
            <a:r>
              <a:rPr sz="1200" b="0" i="0">
                <a:solidFill>
                  <a:srgbClr val="E8E8E8"/>
                </a:solidFill>
                <a:latin typeface="Courier New"/>
              </a:rPr>
              <a:t>if (gr-&gt;n == TAM_GRUPO) {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A8A8A"/>
                </a:solidFill>
                <a:latin typeface="Courier New"/>
              </a:rPr>
              <a:t> 47 </a:t>
            </a:r>
            <a:r>
              <a:rPr sz="1200" b="1" i="0">
                <a:solidFill>
                  <a:srgbClr val="F2C94C"/>
                </a:solidFill>
                <a:latin typeface="Courier New"/>
              </a:rPr>
              <a:t>    gr-&gt;estado = GRUPO_PRONTO;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A8A8A"/>
                </a:solidFill>
                <a:latin typeface="Courier New"/>
              </a:rPr>
              <a:t> 49 </a:t>
            </a:r>
            <a:r>
              <a:rPr sz="1200" b="0" i="0">
                <a:solidFill>
                  <a:srgbClr val="E8E8E8"/>
                </a:solidFill>
                <a:latin typeface="Courier New"/>
              </a:rPr>
              <a:t>    o-&gt;grupos_fechados++;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A8A8A"/>
                </a:solidFill>
                <a:latin typeface="Courier New"/>
              </a:rPr>
              <a:t> 50 </a:t>
            </a:r>
            <a:r>
              <a:rPr sz="1200" b="0" i="0">
                <a:solidFill>
                  <a:srgbClr val="E8E8E8"/>
                </a:solidFill>
                <a:latin typeface="Courier New"/>
              </a:rPr>
              <a:t>    if (o-&gt;grupo_aberto + 1 &lt; o-&gt;n_grupos)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A8A8A"/>
                </a:solidFill>
                <a:latin typeface="Courier New"/>
              </a:rPr>
              <a:t> 51 </a:t>
            </a:r>
            <a:r>
              <a:rPr sz="1200" b="1" i="0">
                <a:solidFill>
                  <a:srgbClr val="F2C94C"/>
                </a:solidFill>
                <a:latin typeface="Courier New"/>
              </a:rPr>
              <a:t>        o-&gt;grupo_aberto++;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A8A8A"/>
                </a:solidFill>
                <a:latin typeface="Courier New"/>
              </a:rPr>
              <a:t> 53 </a:t>
            </a:r>
            <a:r>
              <a:rPr sz="1200" b="1" i="0">
                <a:solidFill>
                  <a:srgbClr val="F2C94C"/>
                </a:solidFill>
                <a:latin typeface="Courier New"/>
              </a:rPr>
              <a:t>    pthread_cond_signal(&amp;o-&gt;cv_noel);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04120" y="1325880"/>
            <a:ext cx="1600200" cy="4892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1F4D3A"/>
                </a:solidFill>
                <a:latin typeface="Calibri"/>
              </a:rPr>
              <a:t>Fila FIFO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elfos_ok ⇔ proximo_grupo &lt; grupos_fechados (noel.c:90)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Noel atende g = proximo_grupo++ (noel.c:128)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Tema 11 — Problema do Papai Noel · Sistemas Operacionais (FAG)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1F4D3A"/>
                </a:solidFill>
                <a:latin typeface="Cambria"/>
              </a:rPr>
              <a:t>O laço de decisão de Noel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17320"/>
            <a:ext cx="2194560" cy="868680"/>
          </a:xfrm>
          <a:prstGeom prst="roundRect">
            <a:avLst>
              <a:gd name="adj" fmla="val 8000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lock mutex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noel.c:81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1417320"/>
            <a:ext cx="2468880" cy="868680"/>
          </a:xfrm>
          <a:prstGeom prst="roundRect">
            <a:avLst>
              <a:gd name="adj" fmla="val 8000"/>
            </a:avLst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tudo concluído?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noel.c:86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417320"/>
            <a:ext cx="2560320" cy="868680"/>
          </a:xfrm>
          <a:prstGeom prst="roundRect">
            <a:avLst>
              <a:gd name="adj" fmla="val 8000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renas_ok, elfos_ok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noel.c:89-90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1417320"/>
            <a:ext cx="2514600" cy="868680"/>
          </a:xfrm>
          <a:prstGeom prst="roundRect">
            <a:avLst>
              <a:gd name="adj" fmla="val 8000"/>
            </a:avLst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nada pronto?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noel.c:100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743200" y="1847088"/>
            <a:ext cx="457200" cy="0"/>
          </a:xfrm>
          <a:prstGeom prst="line">
            <a:avLst/>
          </a:prstGeom>
          <a:ln w="2222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669280" y="1847088"/>
            <a:ext cx="457200" cy="0"/>
          </a:xfrm>
          <a:prstGeom prst="line">
            <a:avLst/>
          </a:prstGeom>
          <a:ln w="2222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686800" y="1847088"/>
            <a:ext cx="457200" cy="0"/>
          </a:xfrm>
          <a:prstGeom prst="line">
            <a:avLst/>
          </a:prstGeom>
          <a:ln w="2222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200400" y="2743200"/>
            <a:ext cx="2468880" cy="77724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sim → ENCERRADO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broadcast, unlock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434840" y="2286000"/>
            <a:ext cx="0" cy="457200"/>
          </a:xfrm>
          <a:prstGeom prst="line">
            <a:avLst/>
          </a:prstGeom>
          <a:ln w="2222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144000" y="2743200"/>
            <a:ext cx="2514600" cy="777240"/>
          </a:xfrm>
          <a:prstGeom prst="roundRect">
            <a:avLst>
              <a:gd name="adj" fmla="val 8000"/>
            </a:avLst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sim → timedwait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solta mutex, dorme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396728" y="2286000"/>
            <a:ext cx="0" cy="457200"/>
          </a:xfrm>
          <a:prstGeom prst="line">
            <a:avLst/>
          </a:prstGeom>
          <a:ln w="2222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126480" y="2743200"/>
            <a:ext cx="2560320" cy="777240"/>
          </a:xfrm>
          <a:prstGeom prst="roundRect">
            <a:avLst>
              <a:gd name="adj" fmla="val 8000"/>
            </a:avLst>
          </a:prstGeom>
          <a:solidFill>
            <a:srgbClr val="B3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não → renas_ok?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noel.c:117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8686800" y="2103120"/>
            <a:ext cx="457200" cy="822960"/>
          </a:xfrm>
          <a:prstGeom prst="line">
            <a:avLst/>
          </a:prstGeom>
          <a:ln w="2222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572000" y="4023360"/>
            <a:ext cx="2651760" cy="960120"/>
          </a:xfrm>
          <a:prstGeom prst="roundRect">
            <a:avLst>
              <a:gd name="adj" fmla="val 8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sim: preparar_viagem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unlock · 5 ms · lock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broadcast cv_renas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0" y="4023360"/>
            <a:ext cx="2651760" cy="960120"/>
          </a:xfrm>
          <a:prstGeom prst="roundRect">
            <a:avLst>
              <a:gd name="adj" fmla="val 8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não: ajudar_grupo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proximo_grupo++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 ms · broadcast cv_elfos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6035040" y="3520440"/>
            <a:ext cx="914400" cy="502920"/>
          </a:xfrm>
          <a:prstGeom prst="line">
            <a:avLst/>
          </a:prstGeom>
          <a:ln w="2222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863840" y="3520440"/>
            <a:ext cx="914400" cy="502920"/>
          </a:xfrm>
          <a:prstGeom prst="line">
            <a:avLst/>
          </a:prstGeom>
          <a:ln w="2222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48640" y="4023360"/>
            <a:ext cx="3566160" cy="960120"/>
          </a:xfrm>
          <a:prstGeom prst="roundRect">
            <a:avLst>
              <a:gd name="adj" fmla="val 8000"/>
            </a:avLst>
          </a:prstGeom>
          <a:solidFill>
            <a:srgbClr val="E6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1F4D3A"/>
                </a:solidFill>
                <a:latin typeface="Calibri"/>
              </a:rPr>
              <a:t>volta ao topo do laço</a:t>
            </a:r>
          </a:p>
          <a:p>
            <a:pPr algn="ctr"/>
            <a:r>
              <a:rPr sz="1400" b="1">
                <a:solidFill>
                  <a:srgbClr val="1F4D3A"/>
                </a:solidFill>
                <a:latin typeface="Calibri"/>
              </a:rPr>
              <a:t>com o mutex (reavalia tudo)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4114800" y="4498848"/>
            <a:ext cx="457200" cy="0"/>
          </a:xfrm>
          <a:prstGeom prst="line">
            <a:avLst/>
          </a:prstGeom>
          <a:ln w="22225">
            <a:solidFill>
              <a:srgbClr val="1F4D3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 flipV="1">
            <a:off x="1645920" y="2286000"/>
            <a:ext cx="685800" cy="1737360"/>
          </a:xfrm>
          <a:prstGeom prst="line">
            <a:avLst/>
          </a:prstGeom>
          <a:ln w="22225">
            <a:solidFill>
              <a:srgbClr val="1F4D3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396728" y="3520440"/>
            <a:ext cx="484632" cy="320040"/>
          </a:xfrm>
          <a:prstGeom prst="line">
            <a:avLst/>
          </a:prstGeom>
          <a:ln w="22225">
            <a:solidFill>
              <a:srgbClr val="1F4D3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0332720" y="3840480"/>
            <a:ext cx="14630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4D3A"/>
                </a:solidFill>
                <a:latin typeface="Calibri"/>
              </a:rPr>
              <a:t>acordou →
topo do laço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303520"/>
            <a:ext cx="11109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F4D3A"/>
                </a:solidFill>
                <a:latin typeface="Calibri"/>
              </a:rPr>
              <a:t>Leitura e decisão na mesma seção crítica: </a:t>
            </a:r>
            <a:r>
              <a:rPr sz="1600" b="0" i="0">
                <a:solidFill>
                  <a:srgbClr val="1A1A1A"/>
                </a:solidFill>
                <a:latin typeface="Calibri"/>
              </a:rPr>
              <a:t>ninguém muda renas_prontas ou a fila entre o teste e a escolha. A ajuda/viagem é simulada fora do mutex, mas só Noel volta a decidir.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Tema 11 — Problema do Papai Noel · Sistemas Operacionais (FAG)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81360" y="6419088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1F4D3A"/>
                </a:solidFill>
                <a:latin typeface="Cambria"/>
              </a:rPr>
              <a:t>Prioridade às renas sem interromper a ajuda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25880"/>
            <a:ext cx="6629400" cy="237744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417320"/>
            <a:ext cx="6409944" cy="2194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8A8A8A"/>
                </a:solidFill>
                <a:latin typeface="Courier New"/>
              </a:rPr>
              <a:t>noel.c — thread_noel(), com o mutex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A8A8A"/>
                </a:solidFill>
                <a:latin typeface="Courier New"/>
              </a:rPr>
              <a:t> 89 </a:t>
            </a:r>
            <a:r>
              <a:rPr sz="1200" b="1" i="0">
                <a:solidFill>
                  <a:srgbClr val="F2C94C"/>
                </a:solidFill>
                <a:latin typeface="Courier New"/>
              </a:rPr>
              <a:t>int renas_ok = o-&gt;renas_prontas == NUM_RENAS &amp;&amp; !o-&gt;viagem_iniciada;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A8A8A"/>
                </a:solidFill>
                <a:latin typeface="Courier New"/>
              </a:rPr>
              <a:t> 90 </a:t>
            </a:r>
            <a:r>
              <a:rPr sz="1200" b="0" i="0">
                <a:solidFill>
                  <a:srgbClr val="E8E8E8"/>
                </a:solidFill>
                <a:latin typeface="Courier New"/>
              </a:rPr>
              <a:t>int elfos_ok = o-&gt;proximo_grupo &lt; o-&gt;grupos_fechados;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A8A8A"/>
                </a:solidFill>
                <a:latin typeface="Courier New"/>
              </a:rPr>
              <a:t>   ⋮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A8A8A"/>
                </a:solidFill>
                <a:latin typeface="Courier New"/>
              </a:rPr>
              <a:t>117 </a:t>
            </a:r>
            <a:r>
              <a:rPr sz="1200" b="1" i="0">
                <a:solidFill>
                  <a:srgbClr val="F2C94C"/>
                </a:solidFill>
                <a:latin typeface="Courier New"/>
              </a:rPr>
              <a:t>int escolhe_renas = c-&gt;ingenua ? !elfos_ok : renas_ok;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A8A8A"/>
                </a:solidFill>
                <a:latin typeface="Courier New"/>
              </a:rPr>
              <a:t>   ⋮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A8A8A"/>
                </a:solidFill>
                <a:latin typeface="Courier New"/>
              </a:rPr>
              <a:t>123 </a:t>
            </a:r>
            <a:r>
              <a:rPr sz="1200" b="0" i="0">
                <a:solidFill>
                  <a:srgbClr val="E8E8E8"/>
                </a:solidFill>
                <a:latin typeface="Courier New"/>
              </a:rPr>
              <a:t>if (escolhe_renas) {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A8A8A"/>
                </a:solidFill>
                <a:latin typeface="Courier New"/>
              </a:rPr>
              <a:t>126 </a:t>
            </a:r>
            <a:r>
              <a:rPr sz="1200" b="0" i="0">
                <a:solidFill>
                  <a:srgbClr val="E8E8E8"/>
                </a:solidFill>
                <a:latin typeface="Courier New"/>
              </a:rPr>
              <a:t>    preparar_viagem(o);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A8A8A"/>
                </a:solidFill>
                <a:latin typeface="Courier New"/>
              </a:rPr>
              <a:t>   ⋮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A8A8A"/>
                </a:solidFill>
                <a:latin typeface="Courier New"/>
              </a:rPr>
              <a:t>128 </a:t>
            </a:r>
            <a:r>
              <a:rPr sz="1200" b="0" i="0">
                <a:solidFill>
                  <a:srgbClr val="E8E8E8"/>
                </a:solidFill>
                <a:latin typeface="Courier New"/>
              </a:rPr>
              <a:t>    int g = o-&gt;proximo_grupo++;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A8A8A"/>
                </a:solidFill>
                <a:latin typeface="Courier New"/>
              </a:rPr>
              <a:t>131 </a:t>
            </a:r>
            <a:r>
              <a:rPr sz="1200" b="0" i="0">
                <a:solidFill>
                  <a:srgbClr val="E8E8E8"/>
                </a:solidFill>
                <a:latin typeface="Courier New"/>
              </a:rPr>
              <a:t>    ajudar_grupo(o, g);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840480"/>
            <a:ext cx="6629400" cy="132588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3931920"/>
            <a:ext cx="6409944" cy="1143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8A8A8A"/>
                </a:solidFill>
                <a:latin typeface="Courier New"/>
              </a:rPr>
              <a:t>durante a ajuda — ajudar_grupo()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ourier New"/>
              </a:rPr>
              <a:t> 60 </a:t>
            </a:r>
            <a:r>
              <a:rPr sz="1300" b="0" i="0">
                <a:solidFill>
                  <a:srgbClr val="E8E8E8"/>
                </a:solidFill>
                <a:latin typeface="Courier New"/>
              </a:rPr>
              <a:t>pthread_mutex_unlock(&amp;o-&gt;mutex);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ourier New"/>
              </a:rPr>
              <a:t> 61 </a:t>
            </a:r>
            <a:r>
              <a:rPr sz="1300" b="1" i="0">
                <a:solidFill>
                  <a:srgbClr val="F2C94C"/>
                </a:solidFill>
                <a:latin typeface="Courier New"/>
              </a:rPr>
              <a:t>dormir_ate_ms(o, inicio + o-&gt;cfg-&gt;ajuda_ms);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ourier New"/>
              </a:rPr>
              <a:t> 62 </a:t>
            </a:r>
            <a:r>
              <a:rPr sz="1300" b="0" i="0">
                <a:solidFill>
                  <a:srgbClr val="E8E8E8"/>
                </a:solidFill>
                <a:latin typeface="Courier New"/>
              </a:rPr>
              <a:t>pthread_mutex_lock(&amp;o-&gt;mutex);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60920" y="1325880"/>
            <a:ext cx="4297680" cy="1188720"/>
          </a:xfrm>
          <a:prstGeom prst="roundRect">
            <a:avLst>
              <a:gd name="adj" fmla="val 8000"/>
            </a:avLst>
          </a:prstGeom>
          <a:solidFill>
            <a:srgbClr val="E6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60920" y="1325880"/>
            <a:ext cx="146304" cy="1188720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35240" y="1380744"/>
            <a:ext cx="39319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A1A1A"/>
                </a:solidFill>
                <a:latin typeface="Calibri"/>
              </a:rPr>
              <a:t>Renas prontas ANTES da decisão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1737360"/>
            <a:ext cx="393192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lidas junto com a fila → escolhe viagem (renas_ok testado primeiro)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624328"/>
            <a:ext cx="4297680" cy="1188720"/>
          </a:xfrm>
          <a:prstGeom prst="roundRect">
            <a:avLst>
              <a:gd name="adj" fmla="val 8000"/>
            </a:avLst>
          </a:prstGeom>
          <a:solidFill>
            <a:srgbClr val="E6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60920" y="2624328"/>
            <a:ext cx="146304" cy="118872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35240" y="2679192"/>
            <a:ext cx="39319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A1A1A"/>
                </a:solidFill>
                <a:latin typeface="Calibri"/>
              </a:rPr>
              <a:t>Renas chegam DURANTE a ajuda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3035808"/>
            <a:ext cx="393192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contam-se e dão signal, mas ninguém escuta: Noel está em dormir_ate_ms. Termina a ajuda, volta ao topo e então prepara a viagem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60920" y="3922776"/>
            <a:ext cx="4297680" cy="1188720"/>
          </a:xfrm>
          <a:prstGeom prst="roundRect">
            <a:avLst>
              <a:gd name="adj" fmla="val 8000"/>
            </a:avLst>
          </a:prstGeom>
          <a:solidFill>
            <a:srgbClr val="E6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60920" y="3922776"/>
            <a:ext cx="146304" cy="11887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35240" y="3977639"/>
            <a:ext cx="39319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A1A1A"/>
                </a:solidFill>
                <a:latin typeface="Calibri"/>
              </a:rPr>
              <a:t>Renas chegam DEPOIS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40" y="4334256"/>
            <a:ext cx="393192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Noel atende os grupos e dorme; a 9ª rena o acorda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349240"/>
            <a:ext cx="111099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F4D3A"/>
                </a:solidFill>
                <a:latin typeface="Calibri"/>
              </a:rPr>
              <a:t>Por quê funciona: 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só a thread Noel decide; elfos e renas apenas alteram contadores e avisam. A prioridade vale nos pontos de decisão (política não preemptiva). Uma rena bloqueada no lock no instante da decisão ainda não "chegou" — não é violação.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Tema 11 — Problema do Papai Noel · Sistemas Operacionais (FAG)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19088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1F4D3A"/>
                </a:solidFill>
                <a:latin typeface="Cambria"/>
              </a:rPr>
              <a:t>Antes, junto ou depois: execuções reais com 6 elfos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81912"/>
            <a:ext cx="1508760" cy="420623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1" i="0">
                <a:solidFill>
                  <a:srgbClr val="1A1A1A"/>
                </a:solidFill>
                <a:latin typeface="Calibri"/>
              </a:rPr>
              <a:t>antes (5 ms)</a:t>
            </a:r>
          </a:p>
        </p:txBody>
      </p:sp>
      <p:sp>
        <p:nvSpPr>
          <p:cNvPr id="4" name="Rectangle 3"/>
          <p:cNvSpPr/>
          <p:nvPr/>
        </p:nvSpPr>
        <p:spPr>
          <a:xfrm>
            <a:off x="2148840" y="1600200"/>
            <a:ext cx="9464040" cy="384048"/>
          </a:xfrm>
          <a:prstGeom prst="rect">
            <a:avLst/>
          </a:prstGeom>
          <a:solidFill>
            <a:srgbClr val="C9C8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484813" y="1600200"/>
            <a:ext cx="1500050" cy="384048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viagem</a:t>
            </a:r>
          </a:p>
        </p:txBody>
      </p:sp>
      <p:sp>
        <p:nvSpPr>
          <p:cNvPr id="6" name="Rectangle 5"/>
          <p:cNvSpPr/>
          <p:nvPr/>
        </p:nvSpPr>
        <p:spPr>
          <a:xfrm>
            <a:off x="4545016" y="1600200"/>
            <a:ext cx="908547" cy="38404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g1</a:t>
            </a:r>
          </a:p>
        </p:txBody>
      </p:sp>
      <p:sp>
        <p:nvSpPr>
          <p:cNvPr id="7" name="Rectangle 6"/>
          <p:cNvSpPr/>
          <p:nvPr/>
        </p:nvSpPr>
        <p:spPr>
          <a:xfrm>
            <a:off x="5455930" y="1600200"/>
            <a:ext cx="910618" cy="38404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37918" y="1490472"/>
            <a:ext cx="0" cy="603504"/>
          </a:xfrm>
          <a:prstGeom prst="line">
            <a:avLst/>
          </a:prstGeom>
          <a:ln w="25400">
            <a:solidFill>
              <a:srgbClr val="1BAF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425172" y="1490472"/>
            <a:ext cx="0" cy="603504"/>
          </a:xfrm>
          <a:prstGeom prst="line">
            <a:avLst/>
          </a:prstGeom>
          <a:ln w="25400">
            <a:solidFill>
              <a:srgbClr val="1BAF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479785" y="1490472"/>
            <a:ext cx="0" cy="603504"/>
          </a:xfrm>
          <a:prstGeom prst="line">
            <a:avLst/>
          </a:prstGeom>
          <a:ln w="31750">
            <a:solidFill>
              <a:srgbClr val="6250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413451" y="2011680"/>
            <a:ext cx="14630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55555"/>
                </a:solidFill>
                <a:latin typeface="Calibri"/>
              </a:rPr>
              <a:t>fim 18,3 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770632"/>
            <a:ext cx="1508760" cy="420623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1" i="0">
                <a:solidFill>
                  <a:srgbClr val="1A1A1A"/>
                </a:solidFill>
                <a:latin typeface="Calibri"/>
              </a:rPr>
              <a:t>junto (10 ms)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48840" y="2788920"/>
            <a:ext cx="9464040" cy="384048"/>
          </a:xfrm>
          <a:prstGeom prst="rect">
            <a:avLst/>
          </a:prstGeom>
          <a:solidFill>
            <a:srgbClr val="C9C8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55288" y="2788920"/>
            <a:ext cx="1501529" cy="384048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viagem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61254" y="2788920"/>
            <a:ext cx="908252" cy="38404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71872" y="2788920"/>
            <a:ext cx="910618" cy="38404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g2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536144" y="2679191"/>
            <a:ext cx="0" cy="603505"/>
          </a:xfrm>
          <a:prstGeom prst="line">
            <a:avLst/>
          </a:prstGeom>
          <a:ln w="25400">
            <a:solidFill>
              <a:srgbClr val="1BAF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420144" y="2679191"/>
            <a:ext cx="0" cy="603505"/>
          </a:xfrm>
          <a:prstGeom prst="line">
            <a:avLst/>
          </a:prstGeom>
          <a:ln w="25400">
            <a:solidFill>
              <a:srgbClr val="1BAF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950260" y="2679191"/>
            <a:ext cx="0" cy="603505"/>
          </a:xfrm>
          <a:prstGeom prst="line">
            <a:avLst/>
          </a:prstGeom>
          <a:ln w="31750">
            <a:solidFill>
              <a:srgbClr val="6250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329393" y="3200400"/>
            <a:ext cx="14630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55555"/>
                </a:solidFill>
                <a:latin typeface="Calibri"/>
              </a:rPr>
              <a:t>fim 21,4 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959352"/>
            <a:ext cx="1508760" cy="420623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1" i="0">
                <a:solidFill>
                  <a:srgbClr val="1A1A1A"/>
                </a:solidFill>
                <a:latin typeface="Calibri"/>
              </a:rPr>
              <a:t>depois (30 ms)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48840" y="3977639"/>
            <a:ext cx="9464040" cy="384048"/>
          </a:xfrm>
          <a:prstGeom prst="rect">
            <a:avLst/>
          </a:prstGeom>
          <a:solidFill>
            <a:srgbClr val="C9C8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883918" y="3977639"/>
            <a:ext cx="1502416" cy="384048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viagem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47086" y="3977639"/>
            <a:ext cx="908252" cy="38404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57704" y="3977639"/>
            <a:ext cx="910322" cy="38404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g2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539101" y="3867911"/>
            <a:ext cx="0" cy="603505"/>
          </a:xfrm>
          <a:prstGeom prst="line">
            <a:avLst/>
          </a:prstGeom>
          <a:ln w="25400">
            <a:solidFill>
              <a:srgbClr val="1BAF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424876" y="3867911"/>
            <a:ext cx="0" cy="603505"/>
          </a:xfrm>
          <a:prstGeom prst="line">
            <a:avLst/>
          </a:prstGeom>
          <a:ln w="25400">
            <a:solidFill>
              <a:srgbClr val="1BAF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870609" y="3867911"/>
            <a:ext cx="0" cy="603505"/>
          </a:xfrm>
          <a:prstGeom prst="line">
            <a:avLst/>
          </a:prstGeom>
          <a:ln w="31750">
            <a:solidFill>
              <a:srgbClr val="6250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0515600" y="4389120"/>
            <a:ext cx="14630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55555"/>
                </a:solidFill>
                <a:latin typeface="Calibri"/>
              </a:rPr>
              <a:t>fim 35,3 ms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444591" y="5074920"/>
            <a:ext cx="0" cy="91440"/>
          </a:xfrm>
          <a:prstGeom prst="line">
            <a:avLst/>
          </a:prstGeom>
          <a:ln w="127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2170271" y="516636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555555"/>
                </a:solidFill>
                <a:latin typeface="Calibri"/>
              </a:rPr>
              <a:t>5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923347" y="5074920"/>
            <a:ext cx="0" cy="91440"/>
          </a:xfrm>
          <a:prstGeom prst="line">
            <a:avLst/>
          </a:prstGeom>
          <a:ln w="127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649027" y="516636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555555"/>
                </a:solidFill>
                <a:latin typeface="Calibri"/>
              </a:rPr>
              <a:t>10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402103" y="5074920"/>
            <a:ext cx="0" cy="91440"/>
          </a:xfrm>
          <a:prstGeom prst="line">
            <a:avLst/>
          </a:prstGeom>
          <a:ln w="127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127783" y="516636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555555"/>
                </a:solidFill>
                <a:latin typeface="Calibri"/>
              </a:rPr>
              <a:t>15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880860" y="5074920"/>
            <a:ext cx="0" cy="91440"/>
          </a:xfrm>
          <a:prstGeom prst="line">
            <a:avLst/>
          </a:prstGeom>
          <a:ln w="127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606540" y="516636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555555"/>
                </a:solidFill>
                <a:latin typeface="Calibri"/>
              </a:rPr>
              <a:t>20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8359616" y="5074920"/>
            <a:ext cx="0" cy="91440"/>
          </a:xfrm>
          <a:prstGeom prst="line">
            <a:avLst/>
          </a:prstGeom>
          <a:ln w="127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8085296" y="516636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555555"/>
                </a:solidFill>
                <a:latin typeface="Calibri"/>
              </a:rPr>
              <a:t>25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9838372" y="5074920"/>
            <a:ext cx="0" cy="91440"/>
          </a:xfrm>
          <a:prstGeom prst="line">
            <a:avLst/>
          </a:prstGeom>
          <a:ln w="127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9564052" y="516636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555555"/>
                </a:solidFill>
                <a:latin typeface="Calibri"/>
              </a:rPr>
              <a:t>30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11317128" y="5074920"/>
            <a:ext cx="0" cy="91440"/>
          </a:xfrm>
          <a:prstGeom prst="line">
            <a:avLst/>
          </a:prstGeom>
          <a:ln w="127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11042808" y="516636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555555"/>
                </a:solidFill>
                <a:latin typeface="Calibri"/>
              </a:rPr>
              <a:t>35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2148840" y="5074920"/>
            <a:ext cx="9464040" cy="0"/>
          </a:xfrm>
          <a:prstGeom prst="line">
            <a:avLst/>
          </a:prstGeom>
          <a:ln w="127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2148840" y="5413248"/>
            <a:ext cx="94640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555555"/>
                </a:solidFill>
                <a:latin typeface="Calibri"/>
              </a:rPr>
              <a:t>tempo desde o sinal de início (ms)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5897880"/>
            <a:ext cx="320040" cy="2286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" y="5824728"/>
            <a:ext cx="20116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preparando viagem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26080" y="5897880"/>
            <a:ext cx="320040" cy="2286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91840" y="5824728"/>
            <a:ext cx="20116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ajudando grupo k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303520" y="5897880"/>
            <a:ext cx="320040" cy="228600"/>
          </a:xfrm>
          <a:prstGeom prst="rect">
            <a:avLst/>
          </a:prstGeom>
          <a:solidFill>
            <a:srgbClr val="C9C8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669280" y="5824728"/>
            <a:ext cx="20116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dormindo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7772400" y="6016752"/>
            <a:ext cx="320040" cy="0"/>
          </a:xfrm>
          <a:prstGeom prst="line">
            <a:avLst/>
          </a:prstGeom>
          <a:ln w="25400">
            <a:solidFill>
              <a:srgbClr val="1BAF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8138160" y="5824728"/>
            <a:ext cx="14630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grupo pronto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9692640" y="6016752"/>
            <a:ext cx="320040" cy="0"/>
          </a:xfrm>
          <a:prstGeom prst="line">
            <a:avLst/>
          </a:prstGeom>
          <a:ln w="31750">
            <a:solidFill>
              <a:srgbClr val="6250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10058400" y="5824728"/>
            <a:ext cx="16459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9ª rena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Tema 11 — Problema do Papai Noel · Sistemas Operacionais (FAG)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881360" y="6419088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320040"/>
            <a:ext cx="104241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1F4D3A"/>
                </a:solidFill>
                <a:latin typeface="Cambria"/>
              </a:rPr>
              <a:t>Ordens diferentes, mesmo resultado correto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0" y="457200"/>
            <a:ext cx="777240" cy="329184"/>
          </a:xfrm>
          <a:prstGeom prst="roundRect">
            <a:avLst>
              <a:gd name="adj" fmla="val 8000"/>
            </a:avLst>
          </a:prstGeom>
          <a:solidFill>
            <a:srgbClr val="C9C8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1">
                <a:solidFill>
                  <a:srgbClr val="1A1A1A"/>
                </a:solidFill>
                <a:latin typeface="Calibri"/>
              </a:rPr>
              <a:t>APOIO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25880"/>
          <a:ext cx="11109960" cy="4608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931920"/>
                <a:gridCol w="3611880"/>
              </a:tblGrid>
              <a:tr h="65836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Ordem de execução</a:t>
                      </a:r>
                    </a:p>
                  </a:txBody>
                  <a:tcPr marL="73152" marR="73152" marT="27432" marB="27432" anchor="ctr">
                    <a:solidFill>
                      <a:srgbClr val="1F4D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O que o código faz</a:t>
                      </a:r>
                    </a:p>
                  </a:txBody>
                  <a:tcPr marL="73152" marR="73152" marT="27432" marB="27432" anchor="ctr">
                    <a:solidFill>
                      <a:srgbClr val="1F4D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Resultado</a:t>
                      </a:r>
                    </a:p>
                  </a:txBody>
                  <a:tcPr marL="73152" marR="73152" marT="27432" marB="27432" anchor="ctr">
                    <a:solidFill>
                      <a:srgbClr val="1F4D3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3º elfo dá signal com Noel ocupado (preparando)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o signal não acorda ninguém, mas grupos_fechados++ ficou gravado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Noel vê o grupo ao voltar ao laço (real: grupo 2 pronto em 15,06 ms)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9ª rena e 3º elfo avisam antes de Noel rodar</a:t>
                      </a:r>
                    </a:p>
                  </a:txBody>
                  <a:tcPr marL="73152" marR="73152" marT="27432" marB="27432" anchor="ctr">
                    <a:solidFill>
                      <a:srgbClr val="E6EF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Noel acorda uma vez e lê os dois prontos</a:t>
                      </a:r>
                    </a:p>
                  </a:txBody>
                  <a:tcPr marL="73152" marR="73152" marT="27432" marB="27432" anchor="ctr">
                    <a:solidFill>
                      <a:srgbClr val="E6EF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escolhe renas (disputa do teste)</a:t>
                      </a:r>
                    </a:p>
                  </a:txBody>
                  <a:tcPr marL="73152" marR="73152" marT="27432" marB="27432" anchor="ctr">
                    <a:solidFill>
                      <a:srgbClr val="E6EFE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9ª rena bloqueada no lock enquanto Noel decide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para o programa a rena ainda não chegou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ajuda o grupo; depois a viagem — não é violação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Noel acorda espuriamente</a:t>
                      </a:r>
                    </a:p>
                  </a:txBody>
                  <a:tcPr marL="73152" marR="73152" marT="27432" marB="27432" anchor="ctr">
                    <a:solidFill>
                      <a:srgbClr val="E6EF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continue → reavalia (noel.c:107)</a:t>
                      </a:r>
                    </a:p>
                  </a:txBody>
                  <a:tcPr marL="73152" marR="73152" marT="27432" marB="27432" anchor="ctr">
                    <a:solidFill>
                      <a:srgbClr val="E6EF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volta a dormir</a:t>
                      </a:r>
                    </a:p>
                  </a:txBody>
                  <a:tcPr marL="73152" marR="73152" marT="27432" marB="27432" anchor="ctr">
                    <a:solidFill>
                      <a:srgbClr val="E6EFE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Elfo do grupo 2 acorda no broadcast do grupo 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testa o próprio grupo (elfo.c:57)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volta a dormir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Elfo 0 chega antes da 9ª rena (real: 10,080 × 10,091 ms)</a:t>
                      </a:r>
                    </a:p>
                  </a:txBody>
                  <a:tcPr marL="73152" marR="73152" marT="27432" marB="27432" anchor="ctr">
                    <a:solidFill>
                      <a:srgbClr val="E6EF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quem pega o mutex primeiro se registra primeiro</a:t>
                      </a:r>
                    </a:p>
                  </a:txBody>
                  <a:tcPr marL="73152" marR="73152" marT="27432" marB="27432" anchor="ctr">
                    <a:solidFill>
                      <a:srgbClr val="E6EF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decisão em 10,108 ms: só renas prontas → viagem</a:t>
                      </a:r>
                    </a:p>
                  </a:txBody>
                  <a:tcPr marL="73152" marR="73152" marT="27432" marB="27432" anchor="ctr">
                    <a:solidFill>
                      <a:srgbClr val="E6EFE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Tema 11 — Problema do Papai Noel · Sistemas Operacionais (FAG)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19088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1F4D3A"/>
                </a:solidFill>
                <a:latin typeface="Cambria"/>
              </a:rPr>
              <a:t>A solução ingênua falha: elfos antes das renas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17320"/>
          <a:ext cx="658368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5120640"/>
              </a:tblGrid>
              <a:tr h="54864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t (ms)</a:t>
                      </a:r>
                    </a:p>
                  </a:txBody>
                  <a:tcPr marL="73152" marR="73152" marT="27432" marB="27432" anchor="ctr">
                    <a:solidFill>
                      <a:srgbClr val="1F4D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evento</a:t>
                      </a:r>
                    </a:p>
                  </a:txBody>
                  <a:tcPr marL="73152" marR="73152" marT="27432" marB="27432" anchor="ctr">
                    <a:solidFill>
                      <a:srgbClr val="1F4D3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12,078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grupo 1 pronto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15,071</a:t>
                      </a:r>
                    </a:p>
                  </a:txBody>
                  <a:tcPr marL="73152" marR="73152" marT="27432" marB="27432" anchor="ctr">
                    <a:solidFill>
                      <a:srgbClr val="E6EF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grupo 2 pronto</a:t>
                      </a:r>
                    </a:p>
                  </a:txBody>
                  <a:tcPr marL="73152" marR="73152" marT="27432" marB="27432" anchor="ctr">
                    <a:solidFill>
                      <a:srgbClr val="E6EFE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30,106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9ª rena chega: as duas demandas prontas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30,113</a:t>
                      </a:r>
                    </a:p>
                  </a:txBody>
                  <a:tcPr marL="73152" marR="73152" marT="27432" marB="27432" anchor="ctr">
                    <a:solidFill>
                      <a:srgbClr val="E6EF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B31B2B"/>
                          </a:solidFill>
                          <a:latin typeface="Calibri"/>
                        </a:rPr>
                        <a:t>Noel ajuda o grupo 1  ✗ violação</a:t>
                      </a:r>
                    </a:p>
                  </a:txBody>
                  <a:tcPr marL="73152" marR="73152" marT="27432" marB="27432" anchor="ctr">
                    <a:solidFill>
                      <a:srgbClr val="E6EFE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33,188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B31B2B"/>
                          </a:solidFill>
                          <a:latin typeface="Calibri"/>
                        </a:rPr>
                        <a:t>Noel ajuda o grupo 2  ✗ violação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36,250</a:t>
                      </a:r>
                    </a:p>
                  </a:txBody>
                  <a:tcPr marL="73152" marR="73152" marT="27432" marB="27432" anchor="ctr">
                    <a:solidFill>
                      <a:srgbClr val="E6EF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só agora prepara a viagem</a:t>
                      </a:r>
                    </a:p>
                  </a:txBody>
                  <a:tcPr marL="73152" marR="73152" marT="27432" marB="27432" anchor="ctr">
                    <a:solidFill>
                      <a:srgbClr val="E6EFE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394960"/>
            <a:ext cx="658368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55555"/>
                </a:solidFill>
                <a:latin typeface="Courier New"/>
              </a:rPr>
              <a:t>Execução real: ./simulacao --elfos 6 --renas-ms 30 --teste-prioridade --ingenua
(única mudança: noel.c:117 usa !elfos_ok em vez de renas_ok)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0" y="1417320"/>
            <a:ext cx="4069080" cy="2103120"/>
          </a:xfrm>
          <a:prstGeom prst="roundRect">
            <a:avLst>
              <a:gd name="adj" fmla="val 8000"/>
            </a:avLst>
          </a:prstGeom>
          <a:solidFill>
            <a:srgbClr val="E6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1508760"/>
            <a:ext cx="3749039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B31B2B"/>
                </a:solidFill>
                <a:latin typeface="Cambria"/>
              </a:rPr>
              <a:t>2 violações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2514600"/>
            <a:ext cx="3749039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resposta às renas: 6,14 ms (contra 18 µs na solução correta)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3749039"/>
            <a:ext cx="4069080" cy="2377440"/>
          </a:xfrm>
          <a:prstGeom prst="roundRect">
            <a:avLst>
              <a:gd name="adj" fmla="val 8000"/>
            </a:avLst>
          </a:prstGeom>
          <a:solidFill>
            <a:srgbClr val="E6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3840480"/>
            <a:ext cx="3749039" cy="2194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F4D3A"/>
                </a:solidFill>
                <a:latin typeface="Calibri"/>
              </a:rPr>
              <a:t>O detector funciona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noel.c:118-119 conta quando Noel escolhe elfos com renas_ok = 1. Deu 0 na matriz e 2 aqui: o "zero violações" da matriz não é por acaso.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Tema 11 — Problema do Papai Noel · Sistemas Operacionais (FAG)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19088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1F4D3A"/>
                </a:solidFill>
                <a:latin typeface="Cambria"/>
              </a:rPr>
              <a:t>Demonstração: disputa real pela decisão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11109960" cy="3429000"/>
          </a:xfrm>
          <a:prstGeom prst="roundRect">
            <a:avLst>
              <a:gd name="adj" fmla="val 8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3291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0" i="0">
                <a:solidFill>
                  <a:srgbClr val="E8E8E8"/>
                </a:solidFill>
                <a:latin typeface="Courier New"/>
              </a:rPr>
              <a:t>$ ./simulacao --elfos 6 --renas-ms 30 --rep 1 --semente 11 --out ../dados/teste_prioridade/</a:t>
            </a:r>
          </a:p>
          <a:p>
            <a:pPr algn="l">
              <a:spcAft>
                <a:spcPts val="100"/>
              </a:spcAft>
            </a:pPr>
            <a:r>
              <a:rPr sz="1400" b="0" i="0">
                <a:solidFill>
                  <a:srgbClr val="E8E8E8"/>
                </a:solidFill>
                <a:latin typeface="Courier New"/>
              </a:rPr>
              <a:t>    --teste-prioridade</a:t>
            </a:r>
          </a:p>
          <a:p>
            <a:pPr algn="l">
              <a:spcAft>
                <a:spcPts val="100"/>
              </a:spcAft>
            </a:pPr>
            <a:r>
              <a:rPr sz="1400" b="0" i="0">
                <a:solidFill>
                  <a:srgbClr val="E8E8E8"/>
                </a:solidFill>
                <a:latin typeface="Courier New"/>
              </a:rPr>
              <a:t>teste_E06_R30_rep1: status=ok T=41.927 ms concluidos=6/6 vazao=143.11 pedidos/s</a:t>
            </a:r>
          </a:p>
          <a:p>
            <a:pPr algn="l">
              <a:spcAft>
                <a:spcPts val="100"/>
              </a:spcAft>
            </a:pPr>
            <a:r>
              <a:rPr sz="1400" b="0" i="0">
                <a:solidFill>
                  <a:srgbClr val="E8E8E8"/>
                </a:solidFill>
                <a:latin typeface="Courier New"/>
              </a:rPr>
              <a:t>    espera_p95=25.766 ms resposta_renas=0.018 ms viol_prio=0 viol_regras=0 decisoes=3 (com</a:t>
            </a:r>
          </a:p>
          <a:p>
            <a:pPr algn="l">
              <a:spcAft>
                <a:spcPts val="100"/>
              </a:spcAft>
            </a:pPr>
            <a:r>
              <a:rPr sz="1400" b="0" i="0">
                <a:solidFill>
                  <a:srgbClr val="E8E8E8"/>
                </a:solidFill>
                <a:latin typeface="Courier New"/>
              </a:rPr>
              <a:t>    disputa: 1) util_noel=27.1%</a:t>
            </a:r>
          </a:p>
          <a:p>
            <a:pPr algn="l">
              <a:spcAft>
                <a:spcPts val="100"/>
              </a:spcAft>
            </a:pPr>
            <a:r>
              <a:rPr sz="1400" b="0" i="0">
                <a:solidFill>
                  <a:srgbClr val="E8E8E8"/>
                </a:solidFill>
                <a:latin typeface="Courier New"/>
              </a:rPr>
              <a:t>[teste-prioridade] disputa na 1a decisão (renas e grupo prontos): SIM</a:t>
            </a:r>
          </a:p>
          <a:p>
            <a:pPr algn="l">
              <a:spcAft>
                <a:spcPts val="100"/>
              </a:spcAft>
            </a:pPr>
            <a:r>
              <a:rPr sz="1400" b="0" i="0">
                <a:solidFill>
                  <a:srgbClr val="8FE3A8"/>
                </a:solidFill>
                <a:latin typeface="Courier New"/>
              </a:rPr>
              <a:t>[teste-prioridade] primeira decisão = renas -&gt; OK</a:t>
            </a:r>
          </a:p>
          <a:p>
            <a:pPr algn="l">
              <a:spcAft>
                <a:spcPts val="100"/>
              </a:spcAft>
            </a:pPr>
            <a:r>
              <a:rPr sz="1400" b="0" i="0">
                <a:solidFill>
                  <a:srgbClr val="8FE3A8"/>
                </a:solidFill>
                <a:latin typeface="Courier New"/>
              </a:rPr>
              <a:t>[teste-prioridade] elfos atendidos = 6/6 -&gt; OK</a:t>
            </a:r>
          </a:p>
          <a:p>
            <a:pPr algn="l">
              <a:spcAft>
                <a:spcPts val="100"/>
              </a:spcAft>
            </a:pPr>
            <a:r>
              <a:rPr sz="1400" b="0" i="0">
                <a:solidFill>
                  <a:srgbClr val="8FE3A8"/>
                </a:solidFill>
                <a:latin typeface="Courier New"/>
              </a:rPr>
              <a:t>[teste-prioridade] violações (prioridade=0, regras=0) -&gt; OK</a:t>
            </a:r>
          </a:p>
          <a:p>
            <a:pPr algn="l">
              <a:spcAft>
                <a:spcPts val="100"/>
              </a:spcAft>
            </a:pPr>
            <a:r>
              <a:rPr sz="1400" b="0" i="0">
                <a:solidFill>
                  <a:srgbClr val="8FE3A8"/>
                </a:solidFill>
                <a:latin typeface="Courier New"/>
              </a:rPr>
              <a:t>[teste-prioridade] RESULTADO: PASSOU</a:t>
            </a:r>
          </a:p>
          <a:p>
            <a:pPr algn="l">
              <a:spcAft>
                <a:spcPts val="100"/>
              </a:spcAft>
            </a:pPr>
            <a:r>
              <a:rPr sz="1400" b="0" i="0">
                <a:solidFill>
                  <a:srgbClr val="E8E8E8"/>
                </a:solidFill>
                <a:latin typeface="Courier New"/>
              </a:rPr>
              <a:t>codigo_saida=0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5166360"/>
            <a:ext cx="548640" cy="548640"/>
          </a:xfrm>
          <a:prstGeom prst="ellipse">
            <a:avLst/>
          </a:prstGeom>
          <a:solidFill>
            <a:srgbClr val="B3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5029200"/>
            <a:ext cx="2971800" cy="12344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Noel fica "atrasado": espera em cv_noel até as duas demandas ficarem prontas (noel.c:94-98)</a:t>
            </a:r>
          </a:p>
        </p:txBody>
      </p:sp>
      <p:sp>
        <p:nvSpPr>
          <p:cNvPr id="7" name="Oval 6"/>
          <p:cNvSpPr/>
          <p:nvPr/>
        </p:nvSpPr>
        <p:spPr>
          <a:xfrm>
            <a:off x="4297679" y="5166360"/>
            <a:ext cx="548640" cy="548640"/>
          </a:xfrm>
          <a:prstGeom prst="ellipse">
            <a:avLst/>
          </a:prstGeom>
          <a:solidFill>
            <a:srgbClr val="B3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83479" y="5029200"/>
            <a:ext cx="2971800" cy="12344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Grupos prontos em 12 e 15 ms; 9ª rena em ~30 ms; a 1ª decisão é a viagem</a:t>
            </a:r>
          </a:p>
        </p:txBody>
      </p:sp>
      <p:sp>
        <p:nvSpPr>
          <p:cNvPr id="9" name="Oval 8"/>
          <p:cNvSpPr/>
          <p:nvPr/>
        </p:nvSpPr>
        <p:spPr>
          <a:xfrm>
            <a:off x="8046719" y="5166360"/>
            <a:ext cx="548640" cy="548640"/>
          </a:xfrm>
          <a:prstGeom prst="ellipse">
            <a:avLst/>
          </a:prstGeom>
          <a:solidFill>
            <a:srgbClr val="B3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19" y="5029200"/>
            <a:ext cx="2971800" cy="12344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6/6 elfos atendidos, 0 violações, saída em dados/teste_prioridade/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Tema 11 — Problema do Papai Noel · Sistemas Operacionais (FAG)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19088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" y="2514600"/>
            <a:ext cx="1097280" cy="1097280"/>
          </a:xfrm>
          <a:prstGeom prst="ellipse">
            <a:avLst/>
          </a:prstGeom>
          <a:solidFill>
            <a:srgbClr val="B3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0" y="2423160"/>
            <a:ext cx="91440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Propriedades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0" y="3246120"/>
            <a:ext cx="91440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FFFFFF"/>
                </a:solidFill>
                <a:latin typeface="Calibri"/>
              </a:rPr>
              <a:t>Deadlock, starvation, espera ocupada e o que caracteriza uma boa solução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Tema 11 — Problema do Papai Noel · Sistemas Operacionais (FAG)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19088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1F4D3A"/>
                </a:solidFill>
                <a:latin typeface="Cambria"/>
              </a:rPr>
              <a:t>Deadlock, starvation, espera ocupada e corrida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25880"/>
            <a:ext cx="5440680" cy="2286000"/>
          </a:xfrm>
          <a:prstGeom prst="roundRect">
            <a:avLst>
              <a:gd name="adj" fmla="val 8000"/>
            </a:avLst>
          </a:prstGeom>
          <a:solidFill>
            <a:srgbClr val="E6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46304" cy="2286000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498348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1F4D3A"/>
                </a:solidFill>
                <a:latin typeface="Calibri"/>
              </a:rPr>
              <a:t>Deadlock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498348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55555"/>
                </a:solidFill>
                <a:latin typeface="Calibri"/>
              </a:rPr>
              <a:t>threads esperando umas pelas outras para sempre (Coffman: posse e espera + espera circular…)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514600"/>
            <a:ext cx="4983480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A1A1A"/>
                </a:solidFill>
                <a:latin typeface="Calibri"/>
              </a:rPr>
              <a:t>Aqui: </a:t>
            </a:r>
            <a:r>
              <a:rPr sz="1400" b="0" i="0">
                <a:solidFill>
                  <a:srgbClr val="1A1A1A"/>
                </a:solidFill>
                <a:latin typeface="Calibri"/>
              </a:rPr>
              <a:t>Não ocorre: 1 único mutex, sem lock aninhado; quem espera em cond var solta o mutex; todo predicado tem quem avise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25880"/>
            <a:ext cx="5440680" cy="2286000"/>
          </a:xfrm>
          <a:prstGeom prst="roundRect">
            <a:avLst>
              <a:gd name="adj" fmla="val 8000"/>
            </a:avLst>
          </a:prstGeom>
          <a:solidFill>
            <a:srgbClr val="E6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325880"/>
            <a:ext cx="146304" cy="22860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59" y="1417320"/>
            <a:ext cx="498348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1F4D3A"/>
                </a:solidFill>
                <a:latin typeface="Calibri"/>
              </a:rPr>
              <a:t>Starvation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59" y="1828800"/>
            <a:ext cx="498348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55555"/>
                </a:solidFill>
                <a:latin typeface="Calibri"/>
              </a:rPr>
              <a:t>uma thread nunca progride porque outras sempre passam na frente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59" y="2514600"/>
            <a:ext cx="4983480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A1A1A"/>
                </a:solidFill>
                <a:latin typeface="Calibri"/>
              </a:rPr>
              <a:t>Aqui: </a:t>
            </a:r>
            <a:r>
              <a:rPr sz="1400" b="0" i="0">
                <a:solidFill>
                  <a:srgbClr val="1A1A1A"/>
                </a:solidFill>
                <a:latin typeface="Calibri"/>
              </a:rPr>
              <a:t>Não na versão finita: 1 viagem e grupos em FIFO (noel.c:128). Risco numa versão contínua: renas sempre ganhariam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794760"/>
            <a:ext cx="5440680" cy="2286000"/>
          </a:xfrm>
          <a:prstGeom prst="roundRect">
            <a:avLst>
              <a:gd name="adj" fmla="val 8000"/>
            </a:avLst>
          </a:prstGeom>
          <a:solidFill>
            <a:srgbClr val="E6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794760"/>
            <a:ext cx="146304" cy="2286000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886200"/>
            <a:ext cx="498348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1F4D3A"/>
                </a:solidFill>
                <a:latin typeface="Calibri"/>
              </a:rPr>
              <a:t>Espera ocupada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297680"/>
            <a:ext cx="498348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55555"/>
                </a:solidFill>
                <a:latin typeface="Calibri"/>
              </a:rPr>
              <a:t>girar num laço testando uma condição, gastando CPU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983480"/>
            <a:ext cx="4983480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A1A1A"/>
                </a:solidFill>
                <a:latin typeface="Calibri"/>
              </a:rPr>
              <a:t>Aqui: </a:t>
            </a:r>
            <a:r>
              <a:rPr sz="1400" b="0" i="0">
                <a:solidFill>
                  <a:srgbClr val="1A1A1A"/>
                </a:solidFill>
                <a:latin typeface="Calibri"/>
              </a:rPr>
              <a:t>Não ocorre: toda espera é pthread_cond_wait/timedwait; sleeps só simulam durações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794760"/>
            <a:ext cx="5440680" cy="2286000"/>
          </a:xfrm>
          <a:prstGeom prst="roundRect">
            <a:avLst>
              <a:gd name="adj" fmla="val 8000"/>
            </a:avLst>
          </a:prstGeom>
          <a:solidFill>
            <a:srgbClr val="E6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794760"/>
            <a:ext cx="146304" cy="22860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59" y="3886200"/>
            <a:ext cx="498348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1F4D3A"/>
                </a:solidFill>
                <a:latin typeface="Calibri"/>
              </a:rPr>
              <a:t>Condição de corrida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59" y="4297680"/>
            <a:ext cx="498348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55555"/>
                </a:solidFill>
                <a:latin typeface="Calibri"/>
              </a:rPr>
              <a:t>resultado depende do entrelaçamento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59" y="4983480"/>
            <a:ext cx="4983480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A1A1A"/>
                </a:solidFill>
                <a:latin typeface="Calibri"/>
              </a:rPr>
              <a:t>Aqui: </a:t>
            </a:r>
            <a:r>
              <a:rPr sz="1400" b="0" i="0">
                <a:solidFill>
                  <a:srgbClr val="1A1A1A"/>
                </a:solidFill>
                <a:latin typeface="Calibri"/>
              </a:rPr>
              <a:t>Descartada por inspeção (todo estado mutável com mutex); não verificada com TSan/Helgrind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Tema 11 — Problema do Papai Noel · Sistemas Operacionais (FAG)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0" y="6419088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1F4D3A"/>
                </a:solidFill>
                <a:latin typeface="Cambria"/>
              </a:rPr>
              <a:t>Princípios de uma boa solução: o que atendemos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25880"/>
          <a:ext cx="82296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463040"/>
                <a:gridCol w="4023360"/>
              </a:tblGrid>
              <a:tr h="54864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73152" marR="73152" marT="27432" marB="27432" anchor="ctr">
                    <a:solidFill>
                      <a:srgbClr val="1F4D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Atende?</a:t>
                      </a:r>
                    </a:p>
                  </a:txBody>
                  <a:tcPr marL="73152" marR="73152" marT="27432" marB="27432" anchor="ctr">
                    <a:solidFill>
                      <a:srgbClr val="1F4D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Evidência no código</a:t>
                      </a:r>
                    </a:p>
                  </a:txBody>
                  <a:tcPr marL="73152" marR="73152" marT="27432" marB="27432" anchor="ctr">
                    <a:solidFill>
                      <a:srgbClr val="1F4D3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Exclusão mútua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F4D3A"/>
                          </a:solidFill>
                          <a:latin typeface="Calibri"/>
                        </a:rPr>
                        <a:t>sim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todo estado mutável só com o mutex (comum.h:78)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Progresso</a:t>
                      </a:r>
                    </a:p>
                  </a:txBody>
                  <a:tcPr marL="73152" marR="73152" marT="27432" marB="27432" anchor="ctr">
                    <a:solidFill>
                      <a:srgbClr val="E6EF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F4D3A"/>
                          </a:solidFill>
                          <a:latin typeface="Calibri"/>
                        </a:rPr>
                        <a:t>sim</a:t>
                      </a:r>
                    </a:p>
                  </a:txBody>
                  <a:tcPr marL="73152" marR="73152" marT="27432" marB="27432" anchor="ctr">
                    <a:solidFill>
                      <a:srgbClr val="E6EF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se renas_ok ou elfos_ok, Noel decide (noel.c:100-132)</a:t>
                      </a:r>
                    </a:p>
                  </a:txBody>
                  <a:tcPr marL="73152" marR="73152" marT="27432" marB="27432" anchor="ctr">
                    <a:solidFill>
                      <a:srgbClr val="E6EFE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Espera limitada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F4D3A"/>
                          </a:solidFill>
                          <a:latin typeface="Calibri"/>
                        </a:rPr>
                        <a:t>sim (finita)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≤ 1 viagem + fila FIFO de grupos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Sem hipótese de velocidade</a:t>
                      </a:r>
                    </a:p>
                  </a:txBody>
                  <a:tcPr marL="73152" marR="73152" marT="27432" marB="27432" anchor="ctr">
                    <a:solidFill>
                      <a:srgbClr val="E6EF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F4D3A"/>
                          </a:solidFill>
                          <a:latin typeface="Calibri"/>
                        </a:rPr>
                        <a:t>sim</a:t>
                      </a:r>
                    </a:p>
                  </a:txBody>
                  <a:tcPr marL="73152" marR="73152" marT="27432" marB="27432" anchor="ctr">
                    <a:solidFill>
                      <a:srgbClr val="E6EF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toda espera é por predicado; sleeps só simulam</a:t>
                      </a:r>
                    </a:p>
                  </a:txBody>
                  <a:tcPr marL="73152" marR="73152" marT="27432" marB="27432" anchor="ctr">
                    <a:solidFill>
                      <a:srgbClr val="E6EFE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Sem espera ocupada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F4D3A"/>
                          </a:solidFill>
                          <a:latin typeface="Calibri"/>
                        </a:rPr>
                        <a:t>sim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cond_wait / timedwait em todas as esperas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Sem deadlock</a:t>
                      </a:r>
                    </a:p>
                  </a:txBody>
                  <a:tcPr marL="73152" marR="73152" marT="27432" marB="27432" anchor="ctr">
                    <a:solidFill>
                      <a:srgbClr val="E6EF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F4D3A"/>
                          </a:solidFill>
                          <a:latin typeface="Calibri"/>
                        </a:rPr>
                        <a:t>sim</a:t>
                      </a:r>
                    </a:p>
                  </a:txBody>
                  <a:tcPr marL="73152" marR="73152" marT="27432" marB="27432" anchor="ctr">
                    <a:solidFill>
                      <a:srgbClr val="E6EF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1 mutex, não recursivo, sem lock aninhado</a:t>
                      </a:r>
                    </a:p>
                  </a:txBody>
                  <a:tcPr marL="73152" marR="73152" marT="27432" marB="27432" anchor="ctr">
                    <a:solidFill>
                      <a:srgbClr val="E6EFE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Robustez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EB6834"/>
                          </a:solidFill>
                          <a:latin typeface="Calibri"/>
                        </a:rPr>
                        <a:t>parcial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retornos de init não verificados (main.c:131-139)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9006840" y="1325880"/>
            <a:ext cx="2651760" cy="4389120"/>
          </a:xfrm>
          <a:prstGeom prst="roundRect">
            <a:avLst>
              <a:gd name="adj" fmla="val 8000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0" y="1417320"/>
            <a:ext cx="2423160" cy="4206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7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Poderia ser melhor</a:t>
            </a:r>
          </a:p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•  conferir retornos de pthread_*_init</a:t>
            </a:r>
          </a:p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•  prazo também na espera da largada (main.c:208)</a:t>
            </a:r>
          </a:p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•  cond var por grupo (evita acordar elfos de outros grupos)</a:t>
            </a:r>
          </a:p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•  versão contínua: aging / cota para elfos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Tema 11 — Problema do Papai Noel · Sistemas Operacionais (FAG)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" y="2514600"/>
            <a:ext cx="1097280" cy="1097280"/>
          </a:xfrm>
          <a:prstGeom prst="ellipse">
            <a:avLst/>
          </a:prstGeom>
          <a:solidFill>
            <a:srgbClr val="B3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0" y="2423160"/>
            <a:ext cx="91440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Testes e resultados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0" y="3246120"/>
            <a:ext cx="91440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FFFFFF"/>
                </a:solidFill>
                <a:latin typeface="Calibri"/>
              </a:rPr>
              <a:t>Método, métricas, os quatro gráficos e os limites do que eles provam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Tema 11 — Problema do Papai Noel · Sistemas Operacionais (FAG)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19088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1F4D3A"/>
                </a:solidFill>
                <a:latin typeface="Cambria"/>
              </a:rPr>
              <a:t>Método: matriz, métricas e testes extras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25880"/>
          <a:ext cx="6675120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914400"/>
                <a:gridCol w="1463040"/>
                <a:gridCol w="2194560"/>
              </a:tblGrid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Config.</a:t>
                      </a:r>
                    </a:p>
                  </a:txBody>
                  <a:tcPr marL="73152" marR="73152" marT="27432" marB="27432" anchor="ctr">
                    <a:solidFill>
                      <a:srgbClr val="1F4D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Elfos</a:t>
                      </a:r>
                    </a:p>
                  </a:txBody>
                  <a:tcPr marL="73152" marR="73152" marT="27432" marB="27432" anchor="ctr">
                    <a:solidFill>
                      <a:srgbClr val="1F4D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Renas</a:t>
                      </a:r>
                    </a:p>
                  </a:txBody>
                  <a:tcPr marL="73152" marR="73152" marT="27432" marB="27432" anchor="ctr">
                    <a:solidFill>
                      <a:srgbClr val="1F4D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Papel</a:t>
                      </a:r>
                    </a:p>
                  </a:txBody>
                  <a:tcPr marL="73152" marR="73152" marT="27432" marB="27432" anchor="ctr">
                    <a:solidFill>
                      <a:srgbClr val="1F4D3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E06_R10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10 ms (junto)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referência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E03_R10 · E12_R10</a:t>
                      </a:r>
                    </a:p>
                  </a:txBody>
                  <a:tcPr marL="73152" marR="73152" marT="27432" marB="27432" anchor="ctr">
                    <a:solidFill>
                      <a:srgbClr val="E6EF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3 · 12</a:t>
                      </a:r>
                    </a:p>
                  </a:txBody>
                  <a:tcPr marL="73152" marR="73152" marT="27432" marB="27432" anchor="ctr">
                    <a:solidFill>
                      <a:srgbClr val="E6EF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10 ms</a:t>
                      </a:r>
                    </a:p>
                  </a:txBody>
                  <a:tcPr marL="73152" marR="73152" marT="27432" marB="27432" anchor="ctr">
                    <a:solidFill>
                      <a:srgbClr val="E6EF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conjunto 1: varia elfos</a:t>
                      </a:r>
                    </a:p>
                  </a:txBody>
                  <a:tcPr marL="73152" marR="73152" marT="27432" marB="27432" anchor="ctr">
                    <a:solidFill>
                      <a:srgbClr val="E6EFE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E06_R05 · E06_R30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5 · 30 ms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conjunto 2: varia renas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3383280"/>
            <a:ext cx="66751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55555"/>
                </a:solidFill>
                <a:latin typeface="Calibri"/>
              </a:rPr>
              <a:t>5 configurações × 5 repetições = 25 execuções · sementes 11…55 = id da repetição (sem aleatoriedade)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6675120" cy="2377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1F4D3A"/>
                </a:solidFill>
                <a:latin typeface="Calibri"/>
              </a:rPr>
              <a:t>Métricas</a:t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•  Vazão = pedidos atendidos / T (s)</a:t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•  Espera = início da ajuda − pedido (elfo.c:32 → noel.c:56)</a:t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•  p95 = posição ⌈0,95·n⌉ das esperas ordenadas — com n = 3 ou 6, é o máximo</a:t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•  Resposta às renas = início da preparação − 9ª rena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1325880"/>
            <a:ext cx="4160520" cy="4846320"/>
          </a:xfrm>
          <a:prstGeom prst="roundRect">
            <a:avLst>
              <a:gd name="adj" fmla="val 8000"/>
            </a:avLst>
          </a:prstGeom>
          <a:solidFill>
            <a:srgbClr val="E6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0" y="1417320"/>
            <a:ext cx="3840480" cy="4663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4D3A"/>
                </a:solidFill>
                <a:latin typeface="Calibri"/>
              </a:rPr>
              <a:t>Testes além da matriz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•  Piloto: 15 execuções, maior T = 35,2 ms → timeout 2000 ms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•  Timeout forçado (5 ms): status timeout, sem travar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•  --teste-prioridade: PASSOU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•  --ingenua: 2 violações detectadas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•  Estresse: 300/300 ok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55555"/>
                </a:solidFill>
                <a:latin typeface="Calibri"/>
              </a:rPr>
              <a:t>•  Tempo medido a partir do sinal de início comum (CLOCK_MONOTONIC); CSVs gravados só após os joins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Tema 11 — Problema do Papai Noel · Sistemas Operacionais (FAG)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19088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1F4D3A"/>
                </a:solidFill>
                <a:latin typeface="Cambria"/>
              </a:rPr>
              <a:t>G1 · Mais elfos, mais vazão: o custo fixo é diluído</a:t>
            </a:r>
          </a:p>
        </p:txBody>
      </p:sp>
      <p:pic>
        <p:nvPicPr>
          <p:cNvPr id="3" name="Picture 2" descr="G1_vazao_elf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7513983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1325880"/>
            <a:ext cx="347472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5400" b="1" i="0">
                <a:solidFill>
                  <a:srgbClr val="1F4D3A"/>
                </a:solidFill>
                <a:latin typeface="Cambria"/>
              </a:rPr>
              <a:t>436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2286000"/>
            <a:ext cx="34747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555555"/>
                </a:solidFill>
                <a:latin typeface="Calibri"/>
              </a:rPr>
              <a:t>pedidos/s com 12 elfos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2834640"/>
            <a:ext cx="3474720" cy="3383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555555"/>
                </a:solidFill>
                <a:latin typeface="Calibri"/>
              </a:rPr>
              <a:t>Eixo x: nº de elfos · eixo y: pedidos/s; ponto = média de 5, barra = mín–máx; renas fixas em 10 ms</a:t>
            </a:r>
          </a:p>
          <a:p>
            <a:pPr algn="l">
              <a:spcAft>
                <a:spcPts val="7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•  163 → 281 → 436 pedidos/s</a:t>
            </a:r>
          </a:p>
          <a:p>
            <a:pPr algn="l">
              <a:spcAft>
                <a:spcPts val="7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•  Previsão T ≈ 15 + 3·N/3 ms: hipótese confirmada (~2% abaixo)</a:t>
            </a:r>
          </a:p>
          <a:p>
            <a:pPr algn="l">
              <a:spcAft>
                <a:spcPts val="7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•  Explica: fila FIFO atende grupos em sequência; os 15 ms iniciais pesam menos</a:t>
            </a:r>
          </a:p>
          <a:p>
            <a:pPr algn="l">
              <a:spcAft>
                <a:spcPts val="7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•  Diferenças &gt; 100 pedidos/s ≫ faixa mín–máx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Tema 11 — Problema do Papai Noel · Sistemas Operacionais (FAG)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1F4D3A"/>
                </a:solidFill>
                <a:latin typeface="Cambria"/>
              </a:rPr>
              <a:t>G2 · O preço da prioridade: renas junto atrasam o 1º grupo</a:t>
            </a:r>
          </a:p>
        </p:txBody>
      </p:sp>
      <p:pic>
        <p:nvPicPr>
          <p:cNvPr id="3" name="Picture 2" descr="G2_p95_ren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7863840" cy="34451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778240" y="1325880"/>
            <a:ext cx="292608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 i="0">
                <a:solidFill>
                  <a:srgbClr val="B31B2B"/>
                </a:solidFill>
                <a:latin typeface="Cambria"/>
              </a:rPr>
              <a:t>5,2 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2194560"/>
            <a:ext cx="29260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555555"/>
                </a:solidFill>
                <a:latin typeface="Calibri"/>
              </a:rPr>
              <a:t>p95 com renas junto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2743200"/>
            <a:ext cx="2926080" cy="3474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555555"/>
                </a:solidFill>
                <a:latin typeface="Calibri"/>
              </a:rPr>
              <a:t>Esq.: categorias de chegada × p95 (ms). Dir.: resposta às renas (µs). 6 elfos, 5 execuções cada</a:t>
            </a:r>
          </a:p>
          <a:p>
            <a:pPr algn="l">
              <a:spcAft>
                <a:spcPts val="7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•  Antes/depois: 2,1 ms — só a formação do grupo</a:t>
            </a:r>
          </a:p>
          <a:p>
            <a:pPr algn="l">
              <a:spcAft>
                <a:spcPts val="7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•  Junto: a viagem (10–15 ms) cobre a formação do grupo 1</a:t>
            </a:r>
          </a:p>
          <a:p>
            <a:pPr algn="l">
              <a:spcAft>
                <a:spcPts val="7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•  Renas: ~20 µs nos 3 casos</a:t>
            </a:r>
          </a:p>
          <a:p>
            <a:pPr algn="l">
              <a:spcAft>
                <a:spcPts val="7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•  ~3 ms ≫ faixa &lt; 0,1 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Tema 11 — Problema do Papai Noel · Sistemas Operacionais (FAG)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1F4D3A"/>
                </a:solidFill>
                <a:latin typeface="Cambria"/>
              </a:rPr>
              <a:t>G3 · Por grupo: o atraso se propaga sem crescer</a:t>
            </a:r>
          </a:p>
        </p:txBody>
      </p:sp>
      <p:pic>
        <p:nvPicPr>
          <p:cNvPr id="3" name="Picture 2" descr="G3_p95_gru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7513983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1325880"/>
            <a:ext cx="3474720" cy="4846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555555"/>
                </a:solidFill>
                <a:latin typeface="Calibri"/>
              </a:rPr>
              <a:t>Eixo x: grupo atendido (1, 2) · eixo y: p95 da espera dos membros; referência, 5 execuções × 3 elfos = 15 amostras/grupo</a:t>
            </a:r>
          </a:p>
          <a:p>
            <a:pPr algn="l">
              <a:spcAft>
                <a:spcPts val="700"/>
              </a:spcAft>
            </a:pPr>
            <a:r>
              <a:rPr sz="1500" b="1" i="0">
                <a:solidFill>
                  <a:srgbClr val="1A1A1A"/>
                </a:solidFill>
                <a:latin typeface="Calibri"/>
              </a:rPr>
              <a:t>•  Grupo 1: 5,12 ms (5,09–5,18)</a:t>
            </a:r>
          </a:p>
          <a:p>
            <a:pPr algn="l">
              <a:spcAft>
                <a:spcPts val="700"/>
              </a:spcAft>
            </a:pPr>
            <a:r>
              <a:rPr sz="1500" b="1" i="0">
                <a:solidFill>
                  <a:srgbClr val="1A1A1A"/>
                </a:solidFill>
                <a:latin typeface="Calibri"/>
              </a:rPr>
              <a:t>•  Grupo 2: 5,20 ms (5,17–5,25)</a:t>
            </a:r>
          </a:p>
          <a:p>
            <a:pPr algn="l">
              <a:spcAft>
                <a:spcPts val="7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•  G1 espera a viagem; G2 espera a ajuda ao G1</a:t>
            </a:r>
          </a:p>
          <a:p>
            <a:pPr algn="l">
              <a:spcAft>
                <a:spcPts val="7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•  Grupos chegam a cada 3 ms e cada ajuda dura 3 ms: a fila não cresce</a:t>
            </a:r>
          </a:p>
          <a:p>
            <a:pPr algn="l">
              <a:spcAft>
                <a:spcPts val="700"/>
              </a:spcAft>
            </a:pPr>
            <a:r>
              <a:rPr sz="1500" b="0" i="0">
                <a:solidFill>
                  <a:srgbClr val="B31B2B"/>
                </a:solidFill>
                <a:latin typeface="Calibri"/>
              </a:rPr>
              <a:t>•  Intuição "o 2º espera mais" não se confirmou</a:t>
            </a:r>
          </a:p>
          <a:p>
            <a:pPr algn="l">
              <a:spcAft>
                <a:spcPts val="700"/>
              </a:spcAft>
            </a:pPr>
            <a:r>
              <a:rPr sz="1500" b="0" i="0">
                <a:solidFill>
                  <a:srgbClr val="555555"/>
                </a:solidFill>
                <a:latin typeface="Calibri"/>
              </a:rPr>
              <a:t>•  p95 de 3 amostras = máximo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Tema 11 — Problema do Papai Noel · Sistemas Operacionais (FAG)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19088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1F4D3A"/>
                </a:solidFill>
                <a:latin typeface="Cambria"/>
              </a:rPr>
              <a:t>G4 · Linha do tempo de Noel: a disputa acontecendo</a:t>
            </a:r>
          </a:p>
        </p:txBody>
      </p:sp>
      <p:pic>
        <p:nvPicPr>
          <p:cNvPr id="3" name="Picture 2" descr="G4_linha_tem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11109960" cy="44439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715000"/>
            <a:ext cx="1110996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Execução E06_R10_rep1 · 9ª rena 10,09 ms · viagem até 15,19 ms · grupos prontos 12,07 e 15,06 ms esperam (hachura) sem interromper a viagem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Tema 11 — Problema do Papai Noel · Sistemas Operacionais (FAG)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19088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1F4D3A"/>
                </a:solidFill>
                <a:latin typeface="Cambria"/>
              </a:rPr>
              <a:t>O que os testes mostram × o que o código garante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25880"/>
            <a:ext cx="5440680" cy="3108960"/>
          </a:xfrm>
          <a:prstGeom prst="roundRect">
            <a:avLst>
              <a:gd name="adj" fmla="val 8000"/>
            </a:avLst>
          </a:prstGeom>
          <a:solidFill>
            <a:srgbClr val="E6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5029200" cy="4023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900"/>
              </a:spcAft>
            </a:pPr>
            <a:r>
              <a:rPr sz="2000" b="1" i="0">
                <a:solidFill>
                  <a:srgbClr val="1F4D3A"/>
                </a:solidFill>
                <a:latin typeface="Calibri"/>
              </a:rPr>
              <a:t>Observação experimental</a:t>
            </a:r>
          </a:p>
          <a:p>
            <a:pPr algn="l">
              <a:spcAft>
                <a:spcPts val="900"/>
              </a:spcAft>
            </a:pPr>
            <a:r>
              <a:rPr sz="1600" b="0" i="0">
                <a:solidFill>
                  <a:srgbClr val="1A1A1A"/>
                </a:solidFill>
                <a:latin typeface="Calibri"/>
              </a:rPr>
              <a:t>•  25/25 execuções válidas, 0 violações</a:t>
            </a:r>
          </a:p>
          <a:p>
            <a:pPr algn="l">
              <a:spcAft>
                <a:spcPts val="900"/>
              </a:spcAft>
            </a:pPr>
            <a:r>
              <a:rPr sz="1600" b="0" i="0">
                <a:solidFill>
                  <a:srgbClr val="1A1A1A"/>
                </a:solidFill>
                <a:latin typeface="Calibri"/>
              </a:rPr>
              <a:t>•  300/300 execuções de estresse sem travar</a:t>
            </a:r>
          </a:p>
          <a:p>
            <a:pPr algn="l">
              <a:spcAft>
                <a:spcPts val="900"/>
              </a:spcAft>
            </a:pPr>
            <a:r>
              <a:rPr sz="1600" b="0" i="0">
                <a:solidFill>
                  <a:srgbClr val="1A1A1A"/>
                </a:solidFill>
                <a:latin typeface="Calibri"/>
              </a:rPr>
              <a:t>•  teste de prioridade passou; ingênua foi detectada</a:t>
            </a:r>
          </a:p>
          <a:p>
            <a:pPr algn="l">
              <a:spcAft>
                <a:spcPts val="900"/>
              </a:spcAft>
            </a:pPr>
            <a:r>
              <a:rPr sz="1600" b="1" i="0">
                <a:solidFill>
                  <a:srgbClr val="1A1A1A"/>
                </a:solidFill>
                <a:latin typeface="Calibri"/>
              </a:rPr>
              <a:t>•  Vale para as ordens que ocorreram nestas execuções, nesta máquina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25880"/>
            <a:ext cx="5440680" cy="3108960"/>
          </a:xfrm>
          <a:prstGeom prst="roundRect">
            <a:avLst>
              <a:gd name="adj" fmla="val 8000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1417320"/>
            <a:ext cx="5029200" cy="4023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9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Garantia por argumento</a:t>
            </a:r>
          </a:p>
          <a:p>
            <a:pPr algn="l">
              <a:spcAft>
                <a:spcPts val="9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•  todo estado mutável só com o mutex → sem corrida</a:t>
            </a:r>
          </a:p>
          <a:p>
            <a:pPr algn="l">
              <a:spcAft>
                <a:spcPts val="9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•  leitura + decisão na mesma seção crítica → prioridade</a:t>
            </a:r>
          </a:p>
          <a:p>
            <a:pPr algn="l">
              <a:spcAft>
                <a:spcPts val="9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•  só Noel decide, sem olhar nada durante a ajuda → sem interrupção</a:t>
            </a:r>
          </a:p>
          <a:p>
            <a:pPr algn="l">
              <a:spcAft>
                <a:spcPts val="9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•  1 mutex, waits em laço com predicado → sem deadlock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663440"/>
            <a:ext cx="1110996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55555"/>
                </a:solidFill>
                <a:latin typeface="Calibri"/>
              </a:rPr>
              <a:t>"Testes mostram a presença de erros, não a ausência." — algumas invariantes (ex.: noel.c:111) nunca disparam por construção; sem TSan/Helgrind disponíveis.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Tema 11 — Problema do Papai Noel · Sistemas Operacionais (FAG)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19088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Cambria"/>
              </a:rPr>
              <a:t>Conclusões e limitações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347472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5000" b="1" i="0">
                <a:solidFill>
                  <a:srgbClr val="FFFFFF"/>
                </a:solidFill>
                <a:latin typeface="Cambria"/>
              </a:rPr>
              <a:t>25/25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286000"/>
            <a:ext cx="34747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execuções válidas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79" y="1280160"/>
            <a:ext cx="347472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5000" b="1" i="0">
                <a:solidFill>
                  <a:srgbClr val="FFFFFF"/>
                </a:solidFill>
                <a:latin typeface="Cambria"/>
              </a:rPr>
              <a:t>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79" y="2286000"/>
            <a:ext cx="34747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violações na matriz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9" y="1280160"/>
            <a:ext cx="347472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5000" b="1" i="0">
                <a:solidFill>
                  <a:srgbClr val="FFFFFF"/>
                </a:solidFill>
                <a:latin typeface="Cambria"/>
              </a:rPr>
              <a:t>300/300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9" y="2286000"/>
            <a:ext cx="34747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execuções de estresse 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17520"/>
            <a:ext cx="5486400" cy="3291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7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Como funciona</a:t>
            </a:r>
          </a:p>
          <a:p>
            <a:pPr algn="l">
              <a:spcAft>
                <a:spcPts val="7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•  1 mutex protege o estado; 4 cond vars fazem esperar sem gastar CPU</a:t>
            </a:r>
          </a:p>
          <a:p>
            <a:pPr algn="l">
              <a:spcAft>
                <a:spcPts val="7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•  Fila de grupos com id: o 3º elfo fecha o grupo dentro do lock</a:t>
            </a:r>
          </a:p>
          <a:p>
            <a:pPr algn="l">
              <a:spcAft>
                <a:spcPts val="7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•  Só Noel decide, com o mutex: renas primeiro, sem interromper</a:t>
            </a:r>
          </a:p>
          <a:p>
            <a:pPr algn="l">
              <a:spcAft>
                <a:spcPts val="7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•  Vazão cresce com N; p95 só sobe quando a viagem coincide com o 1º grupo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3017520"/>
            <a:ext cx="5394960" cy="3291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7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Limitações</a:t>
            </a:r>
          </a:p>
          <a:p>
            <a:pPr algn="l">
              <a:spcAft>
                <a:spcPts val="7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•  Cenário quase determinístico: pouca variação</a:t>
            </a:r>
          </a:p>
          <a:p>
            <a:pPr algn="l">
              <a:spcAft>
                <a:spcPts val="7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•  Latência de timers (0,05–0,5 ms) entra nas medidas</a:t>
            </a:r>
          </a:p>
          <a:p>
            <a:pPr algn="l">
              <a:spcAft>
                <a:spcPts val="7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•  p95 de 3 ou 6 amostras = máximo</a:t>
            </a:r>
          </a:p>
          <a:p>
            <a:pPr algn="l">
              <a:spcAft>
                <a:spcPts val="7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•  Sem TSan/Helgrind; retornos de init não verificados</a:t>
            </a:r>
          </a:p>
          <a:p>
            <a:pPr algn="l">
              <a:spcAft>
                <a:spcPts val="7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•  Versão contínua: risco de starvation dos elfos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Tema 11 — Problema do Papai Noel · Sistemas Operacionais (FAG)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19088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320040"/>
            <a:ext cx="104241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1F4D3A"/>
                </a:solidFill>
                <a:latin typeface="Cambria"/>
              </a:rPr>
              <a:t>Respostas rápidas para a banca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0" y="457200"/>
            <a:ext cx="777240" cy="329184"/>
          </a:xfrm>
          <a:prstGeom prst="roundRect">
            <a:avLst>
              <a:gd name="adj" fmla="val 8000"/>
            </a:avLst>
          </a:prstGeom>
          <a:solidFill>
            <a:srgbClr val="C9C8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1">
                <a:solidFill>
                  <a:srgbClr val="1A1A1A"/>
                </a:solidFill>
                <a:latin typeface="Calibri"/>
              </a:rPr>
              <a:t>APOIO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25880"/>
          <a:ext cx="11109960" cy="4828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6812280"/>
                <a:gridCol w="1097280"/>
              </a:tblGrid>
              <a:tr h="60350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Pergunta</a:t>
                      </a:r>
                    </a:p>
                  </a:txBody>
                  <a:tcPr marL="73152" marR="73152" marT="27432" marB="27432" anchor="ctr">
                    <a:solidFill>
                      <a:srgbClr val="1F4D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Resposta curta</a:t>
                      </a:r>
                    </a:p>
                  </a:txBody>
                  <a:tcPr marL="73152" marR="73152" marT="27432" marB="27432" anchor="ctr">
                    <a:solidFill>
                      <a:srgbClr val="1F4D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Slide</a:t>
                      </a:r>
                    </a:p>
                  </a:txBody>
                  <a:tcPr marL="73152" marR="73152" marT="27432" marB="27432" anchor="ctr">
                    <a:solidFill>
                      <a:srgbClr val="1F4D3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Como o mutex começa? Qual linha?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pthread_mutex_init(&amp;o-&gt;mutex, NULL) em main.c:131, destravado e sem dono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Mutex, semáforo ou ambos?</a:t>
                      </a:r>
                    </a:p>
                  </a:txBody>
                  <a:tcPr marL="73152" marR="73152" marT="27432" marB="27432" anchor="ctr">
                    <a:solidFill>
                      <a:srgbClr val="E6EF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1 mutex + 4 variáveis de condição; nenhum semáforo</a:t>
                      </a:r>
                    </a:p>
                  </a:txBody>
                  <a:tcPr marL="73152" marR="73152" marT="27432" marB="27432" anchor="ctr">
                    <a:solidFill>
                      <a:srgbClr val="E6EF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7, 12</a:t>
                      </a:r>
                    </a:p>
                  </a:txBody>
                  <a:tcPr marL="73152" marR="73152" marT="27432" marB="27432" anchor="ctr">
                    <a:solidFill>
                      <a:srgbClr val="E6EFE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Valor inicial de cada mecanismo?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mutex destravado; cond vars sem valor (fila vazia); predicados em 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Por que a thread espera e o que a libera?</a:t>
                      </a:r>
                    </a:p>
                  </a:txBody>
                  <a:tcPr marL="73152" marR="73152" marT="27432" marB="27432" anchor="ctr">
                    <a:solidFill>
                      <a:srgbClr val="E6EF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predicado falso → cond_wait solta o mutex e dorme; outra thread muda o estado e sinaliza</a:t>
                      </a:r>
                    </a:p>
                  </a:txBody>
                  <a:tcPr marL="73152" marR="73152" marT="27432" marB="27432" anchor="ctr">
                    <a:solidFill>
                      <a:srgbClr val="E6EF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16, 17</a:t>
                      </a:r>
                    </a:p>
                  </a:txBody>
                  <a:tcPr marL="73152" marR="73152" marT="27432" marB="27432" anchor="ctr">
                    <a:solidFill>
                      <a:srgbClr val="E6EFE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Como a prioridade é garantida?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Noel lê renas_ok e elfos_ok com o mutex e testa renas primeiro (noel.c:117)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19, 20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Como o 4º elfo é barrado?</a:t>
                      </a:r>
                    </a:p>
                  </a:txBody>
                  <a:tcPr marL="73152" marR="73152" marT="27432" marB="27432" anchor="ctr">
                    <a:solidFill>
                      <a:srgbClr val="E6EF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o 3º fecha o grupo e avança grupo_aberto na mesma seção crítica (elfo.c:45-51)</a:t>
                      </a:r>
                    </a:p>
                  </a:txBody>
                  <a:tcPr marL="73152" marR="73152" marT="27432" marB="27432" anchor="ctr">
                    <a:solidFill>
                      <a:srgbClr val="E6EF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73152" marR="73152" marT="27432" marB="27432" anchor="ctr">
                    <a:solidFill>
                      <a:srgbClr val="E6EFE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Há deadlock ou starvation?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não: 1 mutex, esperas soltam o lock; FIFO e 1 viagem. Contínua: risco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Tema 11 — Problema do Papai Noel · Sistemas Operacionais (FAG)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19088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36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