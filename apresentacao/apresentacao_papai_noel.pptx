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5117276-D7FF-47A4-8FE9-94165256639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Abertura (≈20 s). Apresentar-se e dizer a mensagem central em uma frase: um mutex protege todo o estado, quatro variáveis de condição fazem as threads esperarem sem gastar CPU, e só o Noel decide, testando as renas primeiro.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C0EDAB-E396-428C-A028-E6B0129B05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Resumo executivo (≈40 s). Ler a linha SCQA e depois as três razões. A evidência embaixo é o que voltaremos a ver na seção de resultados. Transição: 'Para chegar lá, primeiro os fundamentos.'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A1F6D0-BE72-4017-A6E5-618C69510BD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Q1 e Q2 do professor. Processo = espaço de memória próprio; thread = fluxo de execução dentro do processo, compartilhando a memória. O SO cria e escalona as threads; como não controlamos a ordem, precisamos de mecanismos. Quando uma thread bloqueia num mutex ou cond var, o SO a tira da CPU (no Linux, via futex).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D661A5-4CB1-488A-AEB6-331F44AAC0F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Q4. Mensagem: o problema não é o if, é o intervalo entre o teste e a alteração. O mutex não deixa o teste-e-alteração ser intercalado. No código, o if do elfo existe, mas está DENTRO do mutex.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1BE54A-EB5D-4F53-BE87-3EFA9D08290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Q3 e Q10. Semáforo binário imita um mutex, mas sem dono. Variável de condição não guarda aviso: se ninguém está esperando, o signal se perde, e por isso a thread sempre testa o estado antes de dormir.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B69D42-25CC-4CD8-BCCF-F13BC3FC3E3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Explicar a história em 30 s. Destacar as três regras vermelhas: cada uma vai ganhar um slide na seção de sincronização (13, 15-16). Durações são simuladas com sleeps; nenhuma coordenação depende delas.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E4FF72-E863-4D7F-A8B9-B037DCF0D9A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Basta saber a estrutura em alto nível. Ponto-chave: há um único estado compartilhado e um único mutex. Isso simplifica o raciocínio e elimina deadlock por ordem de locks, ao custo de serializar o acesso.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095BE8-343A-479A-AFE0-CECB17B411C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Fluxo de ponta a ponta. A fase 3 é o coração e ocupa os próximos slides. Na largada, as threads fazem broadcast (não signal) porque na cv_largada há outras threads esperando além da main: um signal poderia acordar a thread errada e a main nunca acordaria.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01528D-84C1-4736-805B-65CCF78AAE2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Q10 e Q11. Este é o slide de referência para 'quais mecanismos e onde'. signal só na cv_noel, porque ela tem um único consumidor (Noel). broadcast nas outras porque há várias threads esperando, e cada uma reavalia o próprio predicado.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404D2F-2FF6-4A59-AD98-4433F53D29D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Q9: 'como o mutex começa e qual linha o inicializa'. Resposta: main.c:131, destravado, atributos padrão. O memset NÃO conta como inicialização do mutex pela POSIX; o que vale é a linha 131. Não usamos PTHREAD_MUTEX_INITIALIZER. Ponto fraco honesto: os retornos dessas chamadas não são verificados.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254803-4165-4F09-B669-A6AF08A18B0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Q14: o que acontece quando uma thread espera e o que a faz continuar. Ela continua quando outra thread muda o estado E avisa (ou no timeout de Noel). O aviso não carrega informação: quem decide é o estado relido com o mutex.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15048B-32C5-40DB-BA0B-B0BADAA99E9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 'como impedir que um 4º elfo entre'. Fila de grupos com id em vez de um contador global: cada elfo só entra em grupos[grupo_aberto]. O if da linha 36 é asserção defensiva: com o código atual nunca dispara. Noel só atende grupos entre proximo_grupo e grupos_fechados (noel.c:90).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22912A-8064-4C3E-9491-CA70EC57C08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Sequência real da referência. Ponto a explicar: o broadcast em cv_renas acorda as 9 renas; cada uma readquire o mutex, vê viagem_concluida = 1 e sai. O signal em cv_noel basta porque só Noel espera nela.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092903-2DBF-480C-8B6D-B6E18741602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Pergunta 'como a prioridade das renas é garantida'. Duas razões: (1) só a thread Noel decide, lendo as duas demandas com o mutex; (2) renas_ok é testado primeiro. Ponto sutil: uma rena bloqueada no lock no instante da decisão ainda não chegou para o programa; isso não é violação.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BFD93A-56CE-4708-AF78-0B4BCBFC298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Prioridade não preemptiva. Pergunta típica: 'Noel solta o mutex na ajuda; outra thread não pode começar outra ajuda?' Não: só a thread Noel executa ajudar_grupo/preparar_viagem; o grupo em ajuda está EM_AJUDA e já saiu da fila (proximo_grupo avançou). Este cenário (--renas-ms 13) não faz parte da matriz oficial.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4D944A-E5F9-48CC-B0CA-E50DD4DA524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Os três cenários da matriz, com dados reais. Liga a sincronização ao G2: o p95 sobe só no caso 'junto'. No caso 'antes', o grupo 2 fica pronto durante a ajuda 1 e é atendido logo depois, sem dormir, porque elfos_ok já era 1 no topo do laço.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F5E7B3-9ABA-484E-BD49-BF0F39BEDF1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Comparação lado a lado com o mesmo cenário (6 elfos, renas em 30 ms). Correta: viagem primeiro e depois g1 e g2. Ingênua: g1, g2 e só então a viagem; as renas esperam ~6 ms em vez de ~20 µs.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A8FACB-0334-4746-BFEB-CC112877B77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Q7. Deadlock: as 4 condições de Coffman (exclusão mútua, posse e espera, não preempção, espera circular). Aqui falta a espera circular. Limitação do timeout: não cobre um mutex nunca liberado, porque o timedwait precisa readquirir o mutex para retornar.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350236-E5D7-4E5A-A991-3E232AB0F12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G1. Valores: 163,4, 280,9, 436,1 pedidos/s. A previsão 15 + 3·N/3 é uma conta nossa sobre o cenário, não um dado medido. Limite teórico: 3 elfos a cada 3 ms = 1000 pedidos/s.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0A50F1-3DDD-43AF-81C6-AAF1E049923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G2. A resposta às renas (~20 µs) é o custo de acordar Noel: o signal em rena.c:33 mais a reaquisição do mutex. As barras de erro do painel direito parecem grandes, mas estão em microssegundos.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4E8FB1-A88F-433E-86F7-FE0E16944B7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G3. Com 3 amostras por execução, o p95 é o máximo do grupo; por isso o gráfico mostra os pontos individuais. Dizer que a hipótese não se confirmou mostra que interpretamos o dado em vez de forçá-lo.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DB9890-53F7-4B0D-8EB6-4F16B443B7A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560" cy="342756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G4 é a prova visual do slide 16 na rodada oficial: nenhuma faixa laranja é cortada por uma azul. É a mesma execução do slide 14.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F55C08-0151-4C13-BAA6-618CEBAEE16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7D68FF-3276-4ED3-A6CB-D7E3531CF5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0A29485-035D-4AAF-8CC5-32EE59D457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30B2BA6-BCDD-49FD-A31C-64C214D871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EFCA56-5834-4489-B32A-D314025BA2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C160B4-6E90-4677-A10A-A39765E517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2E1A9F7-9B1B-4C35-8B97-FDD787E928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AC21E9-B86B-45B4-BE91-6ACD73E056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2DA0C33-3580-4394-B53F-D7FF9F32E1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88B8881-61C0-48AF-B089-248F82E258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633804D-93D8-429A-8019-BB2BA45F13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E000478-89F4-494B-B937-A7879F15A2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318600" cy="685656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14400" y="914400"/>
            <a:ext cx="10056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SISTEMAS OPERACIONAIS · TEMA 11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1463040"/>
            <a:ext cx="103312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4800" b="1" u="none" strike="noStrike">
                <a:solidFill>
                  <a:srgbClr val="1a1a1a"/>
                </a:solidFill>
                <a:effectLst/>
                <a:uFillTx/>
                <a:latin typeface="Cambria"/>
              </a:rPr>
              <a:t>Problema do Papai Noel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914400" y="2514600"/>
            <a:ext cx="1005696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200" b="0" u="none" strike="noStrike">
                <a:solidFill>
                  <a:srgbClr val="555555"/>
                </a:solidFill>
                <a:effectLst/>
                <a:uFillTx/>
                <a:latin typeface="Cambria"/>
              </a:rPr>
              <a:t>Como um mutex e quatro variáveis de condição coordenam Noel, 9 renas e N elfos em C11 com pthreads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914400" y="3886200"/>
            <a:ext cx="2010240" cy="3528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14400" y="4114800"/>
            <a:ext cx="100569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Integrante: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Felipe Prior Mulinari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Professor: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Lucca Abbado Neres · FAG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Implementação: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tema11_papai_noel/src (C11 + POSIX Threads, GCC 15.3.1, Fedora 43)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Um mutex, quatro variáveis de condição e uma regra de decisão garantem as regras do Papai Noel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Connector 2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75" name="TextBox 3"/>
          <p:cNvSpPr/>
          <p:nvPr/>
        </p:nvSpPr>
        <p:spPr>
          <a:xfrm>
            <a:off x="548640" y="1645920"/>
            <a:ext cx="110628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Situação: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threads compartilham memória e o SO escolhe a ordem em que rodam.  </a:t>
            </a:r>
            <a:r>
              <a:rPr lang="en-US" sz="15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Complicação: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três regras do problema dependem dessa ordem.  </a:t>
            </a:r>
            <a:r>
              <a:rPr lang="en-US" sz="15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Pergunta: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como coordená-las sem corrida, sem deadlock e sem espera ocupada?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4"/>
          <p:cNvSpPr/>
          <p:nvPr/>
        </p:nvSpPr>
        <p:spPr>
          <a:xfrm>
            <a:off x="548640" y="2514600"/>
            <a:ext cx="3564720" cy="25131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731520" y="2651760"/>
            <a:ext cx="547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731520" y="3200400"/>
            <a:ext cx="3198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mutex torna “testar e alterar” indivisível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731520" y="3931920"/>
            <a:ext cx="3198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O 3º elfo fecha o grupo sem soltar o mutex: um 4º elfo nunca entra num grupo fechado.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731520" y="4681800"/>
            <a:ext cx="3198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1f4d3a"/>
                </a:solidFill>
                <a:effectLst/>
                <a:uFillTx/>
                <a:latin typeface="Courier New"/>
              </a:rPr>
              <a:t>elfo.c:41-53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9"/>
          <p:cNvSpPr/>
          <p:nvPr/>
        </p:nvSpPr>
        <p:spPr>
          <a:xfrm>
            <a:off x="4297680" y="2514600"/>
            <a:ext cx="3564720" cy="25131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4480560" y="2651760"/>
            <a:ext cx="547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1"/>
          <p:cNvSpPr/>
          <p:nvPr/>
        </p:nvSpPr>
        <p:spPr>
          <a:xfrm>
            <a:off x="4480560" y="3200400"/>
            <a:ext cx="3198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As variáveis de condição fazem esperar sem gastar CPU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2"/>
          <p:cNvSpPr/>
          <p:nvPr/>
        </p:nvSpPr>
        <p:spPr>
          <a:xfrm>
            <a:off x="4480560" y="3931920"/>
            <a:ext cx="3198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Noel, elfos e renas dormem até um predicado valer e são acordados por quem o tornou verdadeiro.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3"/>
          <p:cNvSpPr/>
          <p:nvPr/>
        </p:nvSpPr>
        <p:spPr>
          <a:xfrm>
            <a:off x="4480560" y="4681800"/>
            <a:ext cx="3198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1f4d3a"/>
                </a:solidFill>
                <a:effectLst/>
                <a:uFillTx/>
                <a:latin typeface="Courier New"/>
              </a:rPr>
              <a:t>4 × pthread_cond_t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14"/>
          <p:cNvSpPr/>
          <p:nvPr/>
        </p:nvSpPr>
        <p:spPr>
          <a:xfrm>
            <a:off x="8046720" y="2514600"/>
            <a:ext cx="3564720" cy="25131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15"/>
          <p:cNvSpPr/>
          <p:nvPr/>
        </p:nvSpPr>
        <p:spPr>
          <a:xfrm>
            <a:off x="8229600" y="2651760"/>
            <a:ext cx="5472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6"/>
          <p:cNvSpPr/>
          <p:nvPr/>
        </p:nvSpPr>
        <p:spPr>
          <a:xfrm>
            <a:off x="8229600" y="3200400"/>
            <a:ext cx="31989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Só Noel decide, com o mutex, testando as renas primeiro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7"/>
          <p:cNvSpPr/>
          <p:nvPr/>
        </p:nvSpPr>
        <p:spPr>
          <a:xfrm>
            <a:off x="8229600" y="3931920"/>
            <a:ext cx="31989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 prioridade vale entre tarefas: uma ajuda iniciada nunca é interrompida.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8"/>
          <p:cNvSpPr/>
          <p:nvPr/>
        </p:nvSpPr>
        <p:spPr>
          <a:xfrm>
            <a:off x="8229600" y="4681800"/>
            <a:ext cx="3198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1f4d3a"/>
                </a:solidFill>
                <a:effectLst/>
                <a:uFillTx/>
                <a:latin typeface="Courier New"/>
              </a:rPr>
              <a:t>noel.c:89-90, 117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0"/>
          <p:cNvSpPr/>
          <p:nvPr/>
        </p:nvSpPr>
        <p:spPr>
          <a:xfrm>
            <a:off x="713160" y="5444640"/>
            <a:ext cx="108982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1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src/; dados/resumo.csv; dados/log_execucao.txt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2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2"/>
          <p:cNvSpPr/>
          <p:nvPr/>
        </p:nvSpPr>
        <p:spPr>
          <a:xfrm>
            <a:off x="585360" y="438840"/>
            <a:ext cx="99540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O SO decide a ordem em que as threads rodam; sincronizar é impor as ordens que importam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103" name="Rectangle 10"/>
          <p:cNvSpPr/>
          <p:nvPr/>
        </p:nvSpPr>
        <p:spPr>
          <a:xfrm>
            <a:off x="548640" y="1783080"/>
            <a:ext cx="5119200" cy="3930480"/>
          </a:xfrm>
          <a:prstGeom prst="rect">
            <a:avLst/>
          </a:prstGeom>
          <a:noFill/>
          <a:ln w="15875">
            <a:solidFill>
              <a:srgbClr val="1f4d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731520" y="1828800"/>
            <a:ext cx="47534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1 processo: ./simulacao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12"/>
          <p:cNvSpPr/>
          <p:nvPr/>
        </p:nvSpPr>
        <p:spPr>
          <a:xfrm>
            <a:off x="822960" y="2240280"/>
            <a:ext cx="4570560" cy="912960"/>
          </a:xfrm>
          <a:prstGeom prst="rect">
            <a:avLst/>
          </a:prstGeom>
          <a:solidFill>
            <a:srgbClr val="e6ef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Memória compartilhada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struct Oficina: contadores, grupos, estado de Noel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13"/>
          <p:cNvSpPr/>
          <p:nvPr/>
        </p:nvSpPr>
        <p:spPr>
          <a:xfrm>
            <a:off x="822960" y="3703320"/>
            <a:ext cx="1461600" cy="912960"/>
          </a:xfrm>
          <a:prstGeom prst="rect">
            <a:avLst/>
          </a:prstGeom>
          <a:solidFill>
            <a:srgbClr val="ffffff"/>
          </a:solidFill>
          <a:ln w="9525">
            <a:solidFill>
              <a:srgbClr val="8a8c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 thread(s)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Connector 14"/>
          <p:cNvCxnSpPr/>
          <p:nvPr/>
        </p:nvCxnSpPr>
        <p:spPr>
          <a:xfrm flipV="1">
            <a:off x="1554480" y="3182040"/>
            <a:ext cx="1440" cy="52272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108" name="Rectangle 15"/>
          <p:cNvSpPr/>
          <p:nvPr/>
        </p:nvSpPr>
        <p:spPr>
          <a:xfrm>
            <a:off x="2377440" y="3703320"/>
            <a:ext cx="1461600" cy="912960"/>
          </a:xfrm>
          <a:prstGeom prst="rect">
            <a:avLst/>
          </a:prstGeom>
          <a:solidFill>
            <a:srgbClr val="ffffff"/>
          </a:solidFill>
          <a:ln w="9525">
            <a:solidFill>
              <a:srgbClr val="8a8c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Renas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9 thread(s)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Connector 16"/>
          <p:cNvCxnSpPr/>
          <p:nvPr/>
        </p:nvCxnSpPr>
        <p:spPr>
          <a:xfrm flipV="1">
            <a:off x="3108960" y="3182040"/>
            <a:ext cx="1440" cy="52272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110" name="Rectangle 17"/>
          <p:cNvSpPr/>
          <p:nvPr/>
        </p:nvSpPr>
        <p:spPr>
          <a:xfrm>
            <a:off x="3931920" y="3703320"/>
            <a:ext cx="1461600" cy="912960"/>
          </a:xfrm>
          <a:prstGeom prst="rect">
            <a:avLst/>
          </a:prstGeom>
          <a:solidFill>
            <a:srgbClr val="ffffff"/>
          </a:solidFill>
          <a:ln w="9525">
            <a:solidFill>
              <a:srgbClr val="8a8c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Elfos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 thread(s)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Connector 18"/>
          <p:cNvCxnSpPr/>
          <p:nvPr/>
        </p:nvCxnSpPr>
        <p:spPr>
          <a:xfrm flipV="1">
            <a:off x="4663440" y="3182040"/>
            <a:ext cx="1440" cy="52272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112" name="TextBox 19"/>
          <p:cNvSpPr/>
          <p:nvPr/>
        </p:nvSpPr>
        <p:spPr>
          <a:xfrm>
            <a:off x="822960" y="4754880"/>
            <a:ext cx="46620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Cada thread tem a própria pilha, mas lê e escreve a mesma Oficina. O escalonador do SO pode pausar qualquer uma entre duas instruções.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0"/>
          <p:cNvSpPr/>
          <p:nvPr/>
        </p:nvSpPr>
        <p:spPr>
          <a:xfrm>
            <a:off x="6035040" y="1783080"/>
            <a:ext cx="55764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Concorrência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várias threads em andamento ao mesmo tempo, intercaladas ou em núcleos diferentes.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1"/>
          <p:cNvSpPr/>
          <p:nvPr/>
        </p:nvSpPr>
        <p:spPr>
          <a:xfrm>
            <a:off x="6035040" y="2770560"/>
            <a:ext cx="55764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Seção crítica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trecho que lê ou altera dados compartilhados; só uma thread por vez pode executá-lo.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2"/>
          <p:cNvSpPr/>
          <p:nvPr/>
        </p:nvSpPr>
        <p:spPr>
          <a:xfrm>
            <a:off x="6035040" y="3758040"/>
            <a:ext cx="55764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Condição de corrida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resultado depende da ordem do entrelaçamento, que muda a cada execução.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3"/>
          <p:cNvSpPr/>
          <p:nvPr/>
        </p:nvSpPr>
        <p:spPr>
          <a:xfrm>
            <a:off x="6035040" y="4745880"/>
            <a:ext cx="557640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600" b="1" u="none" strike="noStrike">
                <a:solidFill>
                  <a:srgbClr val="b31b2b"/>
                </a:solidFill>
                <a:effectLst/>
                <a:uFillTx/>
                <a:latin typeface="Calibri"/>
              </a:rPr>
              <a:t>Sincronização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exclusão mútua nos dados + uma forma de esperar e avisar eventos sem gastar CPU.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4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src/comum.h:79-123 (struct Oficina); src/main.c:187-204 (criação das threads)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5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2"/>
          <p:cNvSpPr/>
          <p:nvPr/>
        </p:nvSpPr>
        <p:spPr>
          <a:xfrm>
            <a:off x="585360" y="438840"/>
            <a:ext cx="99540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Um if com contador falha porque testar e alterar são passos que outra thread pode intercalar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128" name="TextBox 10"/>
          <p:cNvSpPr/>
          <p:nvPr/>
        </p:nvSpPr>
        <p:spPr>
          <a:xfrm>
            <a:off x="548640" y="169164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b31b2b"/>
                </a:solidFill>
                <a:effectLst/>
                <a:uFillTx/>
                <a:latin typeface="Calibri"/>
              </a:rPr>
              <a:t>SEM MUTEX: RENAS_PRONTAS++ VIRA LER → SOMAR → GRAVAR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Table 11"/>
          <p:cNvGraphicFramePr/>
          <p:nvPr/>
        </p:nvGraphicFramePr>
        <p:xfrm>
          <a:off x="548640" y="2057400"/>
          <a:ext cx="5303160" cy="18288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1828800"/>
                <a:gridCol w="1097280"/>
              </a:tblGrid>
              <a:tr h="365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Rena A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Rena B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memória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</a:tr>
              <a:tr h="365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lê 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lê 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365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grava 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b31b2b"/>
                          </a:solidFill>
                          <a:effectLst/>
                          <a:uFillTx/>
                          <a:latin typeface="Calibri"/>
                        </a:rPr>
                        <a:t>grava 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b31b2b"/>
                          </a:solidFill>
                          <a:effectLst/>
                          <a:uFillTx/>
                          <a:latin typeface="Calibri"/>
                        </a:rPr>
                        <a:t>8 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</a:tbl>
          </a:graphicData>
        </a:graphic>
      </p:graphicFrame>
      <p:sp>
        <p:nvSpPr>
          <p:cNvPr id="130" name="TextBox 12"/>
          <p:cNvSpPr/>
          <p:nvPr/>
        </p:nvSpPr>
        <p:spPr>
          <a:xfrm>
            <a:off x="548640" y="3977640"/>
            <a:ext cx="530208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As duas renas chegaram, mas o contador só subiu 1. Com 9 renas presentes ele para em 8 e Noel nunca prepara a viagem.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3"/>
          <p:cNvSpPr/>
          <p:nvPr/>
        </p:nvSpPr>
        <p:spPr>
          <a:xfrm>
            <a:off x="6309360" y="169164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COM MUTEX: O PAR VIRA INDIVISÍVEL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2" name="Table 14"/>
          <p:cNvGraphicFramePr/>
          <p:nvPr/>
        </p:nvGraphicFramePr>
        <p:xfrm>
          <a:off x="6309360" y="2057400"/>
          <a:ext cx="5303160" cy="146304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1737360"/>
                <a:gridCol w="822960"/>
              </a:tblGrid>
              <a:tr h="365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Rena A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Rena B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mem.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</a:tr>
              <a:tr h="365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lock · lê 7 · grava 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lock → bloqueia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unlock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(acorda)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365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lê 8 · grava 9 · unlock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f4d3a"/>
                          </a:solidFill>
                          <a:effectLst/>
                          <a:uFillTx/>
                          <a:latin typeface="Calibri"/>
                        </a:rPr>
                        <a:t>9 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3" name="Rectangle 15"/>
          <p:cNvSpPr/>
          <p:nvPr/>
        </p:nvSpPr>
        <p:spPr>
          <a:xfrm>
            <a:off x="6309360" y="3657600"/>
            <a:ext cx="5302080" cy="775800"/>
          </a:xfrm>
          <a:prstGeom prst="rect">
            <a:avLst/>
          </a:prstGeom>
          <a:solidFill>
            <a:srgbClr val="1e22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6"/>
          <p:cNvSpPr/>
          <p:nvPr/>
        </p:nvSpPr>
        <p:spPr>
          <a:xfrm>
            <a:off x="6382440" y="3730680"/>
            <a:ext cx="5155920" cy="6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23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pthread_mutex_lock(&amp;o-&gt;mutex);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28  o-&gt;renas_prontas++;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7"/>
          <p:cNvSpPr/>
          <p:nvPr/>
        </p:nvSpPr>
        <p:spPr>
          <a:xfrm>
            <a:off x="6309360" y="4480560"/>
            <a:ext cx="53020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Mesma seção crítica: lock na linha 23, ++ na 28.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8"/>
          <p:cNvSpPr/>
          <p:nvPr/>
        </p:nvSpPr>
        <p:spPr>
          <a:xfrm>
            <a:off x="548640" y="5074920"/>
            <a:ext cx="62640" cy="105012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9"/>
          <p:cNvSpPr/>
          <p:nvPr/>
        </p:nvSpPr>
        <p:spPr>
          <a:xfrm>
            <a:off x="713160" y="5074920"/>
            <a:ext cx="1089828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mesmo vale para o elfo: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sem mutex, dois elfos leem n == 2, os dois passam no if e escrevem em membros[2], formando um “grupo” de 4. Um lock caseiro com flag (while (ocupado); ocupado = 1;) sofre a mesma corrida e ainda gasta CPU.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0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src/rena.c:23-28; src/elfo.c:34-41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1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2"/>
          <p:cNvSpPr/>
          <p:nvPr/>
        </p:nvSpPr>
        <p:spPr>
          <a:xfrm>
            <a:off x="585360" y="438840"/>
            <a:ext cx="99540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Mutex dá exclusão, semáforo conta e variável de condição espera um predicado: usamos mutex e condição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graphicFrame>
        <p:nvGraphicFramePr>
          <p:cNvPr id="149" name="Table 10"/>
          <p:cNvGraphicFramePr/>
          <p:nvPr/>
        </p:nvGraphicFramePr>
        <p:xfrm>
          <a:off x="548640" y="1737360"/>
          <a:ext cx="11063880" cy="352044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  <a:gridCol w="3017520"/>
              </a:tblGrid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Mutex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Semáforo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Variável de condição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Para quê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exclusão mútua na seção crítica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contar recursos ou avisos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esperar até um predicado valer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Operações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lock / unlock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wait (P) / post (V)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wait / signal / broadcast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Valor inicial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nenhum: começa destravado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um número: sem_init(&amp;s, 0, v)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nenhum: fila vazia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Tem dono?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sim: só quem travou destrava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não: qualquer thread dá post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não; sempre usada com um mutex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Lembra avisos?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sim, no contador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não: por isso exige o predicado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No projeto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e5e7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 mutex (main.c:131)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e5e7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nenhum (0 ocorrências de sem_)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e5e7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4 cond vars (main.c:132-139)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e5e7"/>
                    </a:solidFill>
                  </a:tcPr>
                </a:tc>
              </a:tr>
            </a:tbl>
          </a:graphicData>
        </a:graphic>
      </p:graphicFrame>
      <p:sp>
        <p:nvSpPr>
          <p:cNvPr id="150" name="Rectangle 11"/>
          <p:cNvSpPr/>
          <p:nvPr/>
        </p:nvSpPr>
        <p:spPr>
          <a:xfrm>
            <a:off x="548640" y="5440680"/>
            <a:ext cx="62640" cy="68436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2"/>
          <p:cNvSpPr/>
          <p:nvPr/>
        </p:nvSpPr>
        <p:spPr>
          <a:xfrm>
            <a:off x="713160" y="5440680"/>
            <a:ext cx="108982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Por que não semáforos: Noel precisa ler as duas demandas ao mesmo tempo para escolher. Com mutex + cond var, ele lê renas_ok e elfos_ok na mesma seção crítica e decide.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3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src/comum.h:82-86; src/main.c:131-139; grep -c sem_ src/* = 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4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3"/>
          <p:cNvSpPr/>
          <p:nvPr/>
        </p:nvSpPr>
        <p:spPr>
          <a:xfrm>
            <a:off x="1947600" y="438840"/>
            <a:ext cx="74844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5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Noel atende duas demandas, e três das regras dependem da ordem entre as threads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2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163" name="Rectangle 10"/>
          <p:cNvSpPr/>
          <p:nvPr/>
        </p:nvSpPr>
        <p:spPr>
          <a:xfrm>
            <a:off x="548640" y="2011680"/>
            <a:ext cx="1735920" cy="82152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 elfos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elfo i chega em 10 + i 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11"/>
          <p:cNvSpPr/>
          <p:nvPr/>
        </p:nvSpPr>
        <p:spPr>
          <a:xfrm>
            <a:off x="2651760" y="2011680"/>
            <a:ext cx="1735920" cy="82152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Grupos de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fila FIFO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12"/>
          <p:cNvSpPr/>
          <p:nvPr/>
        </p:nvSpPr>
        <p:spPr>
          <a:xfrm>
            <a:off x="2514600" y="3840480"/>
            <a:ext cx="2010240" cy="82152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Papai Noel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thread, decide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13"/>
          <p:cNvSpPr/>
          <p:nvPr/>
        </p:nvSpPr>
        <p:spPr>
          <a:xfrm>
            <a:off x="548640" y="5120640"/>
            <a:ext cx="1735920" cy="82152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9 renas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chegam juntas em R 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7" name="Connector 14"/>
          <p:cNvCxnSpPr/>
          <p:nvPr/>
        </p:nvCxnSpPr>
        <p:spPr>
          <a:xfrm>
            <a:off x="2286000" y="2423160"/>
            <a:ext cx="367200" cy="1440"/>
          </a:xfrm>
          <a:prstGeom prst="straightConnector1">
            <a:avLst/>
          </a:prstGeom>
          <a:ln w="15875">
            <a:solidFill>
              <a:srgbClr val="555555"/>
            </a:solidFill>
            <a:round/>
            <a:tailEnd len="med" type="triangle" w="med"/>
          </a:ln>
        </p:spPr>
      </p:cxnSp>
      <p:cxnSp>
        <p:nvCxnSpPr>
          <p:cNvPr id="168" name="Connector 15"/>
          <p:cNvCxnSpPr/>
          <p:nvPr/>
        </p:nvCxnSpPr>
        <p:spPr>
          <a:xfrm>
            <a:off x="3520440" y="2834640"/>
            <a:ext cx="1440" cy="1007280"/>
          </a:xfrm>
          <a:prstGeom prst="straightConnector1">
            <a:avLst/>
          </a:prstGeom>
          <a:ln w="15875">
            <a:solidFill>
              <a:srgbClr val="555555"/>
            </a:solidFill>
            <a:round/>
            <a:tailEnd len="med" type="triangle" w="med"/>
          </a:ln>
        </p:spPr>
      </p:cxnSp>
      <p:cxnSp>
        <p:nvCxnSpPr>
          <p:cNvPr id="169" name="Connector 16"/>
          <p:cNvCxnSpPr/>
          <p:nvPr/>
        </p:nvCxnSpPr>
        <p:spPr>
          <a:xfrm flipV="1">
            <a:off x="1417320" y="4526280"/>
            <a:ext cx="1098720" cy="595800"/>
          </a:xfrm>
          <a:prstGeom prst="straightConnector1">
            <a:avLst/>
          </a:prstGeom>
          <a:ln w="15875">
            <a:solidFill>
              <a:srgbClr val="555555"/>
            </a:solidFill>
            <a:round/>
            <a:tailEnd len="med" type="triangle" w="med"/>
          </a:ln>
        </p:spPr>
      </p:cxnSp>
      <p:sp>
        <p:nvSpPr>
          <p:cNvPr id="170" name="TextBox 17"/>
          <p:cNvSpPr/>
          <p:nvPr/>
        </p:nvSpPr>
        <p:spPr>
          <a:xfrm>
            <a:off x="3611880" y="3108960"/>
            <a:ext cx="14616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a78d6"/>
                </a:solidFill>
                <a:effectLst/>
                <a:uFillTx/>
                <a:latin typeface="Calibri"/>
              </a:rPr>
              <a:t>ajuda: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78d6"/>
                </a:solidFill>
                <a:effectLst/>
                <a:uFillTx/>
                <a:latin typeface="Calibri"/>
              </a:rPr>
              <a:t>3 ms por grupo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8"/>
          <p:cNvSpPr/>
          <p:nvPr/>
        </p:nvSpPr>
        <p:spPr>
          <a:xfrm>
            <a:off x="2514600" y="4800600"/>
            <a:ext cx="21931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eb6834"/>
                </a:solidFill>
                <a:effectLst/>
                <a:uFillTx/>
                <a:latin typeface="Calibri"/>
              </a:rPr>
              <a:t>preparação da viagem: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eb6834"/>
                </a:solidFill>
                <a:effectLst/>
                <a:uFillTx/>
                <a:latin typeface="Calibri"/>
              </a:rPr>
              <a:t>5 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9"/>
          <p:cNvSpPr/>
          <p:nvPr/>
        </p:nvSpPr>
        <p:spPr>
          <a:xfrm>
            <a:off x="5120640" y="1737360"/>
            <a:ext cx="6399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REGRAS DESTA VERSÃO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Oval 20"/>
          <p:cNvSpPr/>
          <p:nvPr/>
        </p:nvSpPr>
        <p:spPr>
          <a:xfrm>
            <a:off x="5120640" y="2176200"/>
            <a:ext cx="291240" cy="291240"/>
          </a:xfrm>
          <a:prstGeom prst="ellipse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1"/>
          <p:cNvSpPr/>
          <p:nvPr/>
        </p:nvSpPr>
        <p:spPr>
          <a:xfrm>
            <a:off x="5532120" y="2103120"/>
            <a:ext cx="60793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Noel dorme até haver um grupo de 3 elfos ou as 9 renas.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Oval 22"/>
          <p:cNvSpPr/>
          <p:nvPr/>
        </p:nvSpPr>
        <p:spPr>
          <a:xfrm>
            <a:off x="5120640" y="2797920"/>
            <a:ext cx="291240" cy="291240"/>
          </a:xfrm>
          <a:prstGeom prst="ellipse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3"/>
          <p:cNvSpPr/>
          <p:nvPr/>
        </p:nvSpPr>
        <p:spPr>
          <a:xfrm>
            <a:off x="5532120" y="2724840"/>
            <a:ext cx="60793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Cada ajuda tem exatamente 3 elfos; um 4º não entra num grupo já fechado.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Oval 24"/>
          <p:cNvSpPr/>
          <p:nvPr/>
        </p:nvSpPr>
        <p:spPr>
          <a:xfrm>
            <a:off x="5120640" y="3420000"/>
            <a:ext cx="291240" cy="291240"/>
          </a:xfrm>
          <a:prstGeom prst="ellipse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5"/>
          <p:cNvSpPr/>
          <p:nvPr/>
        </p:nvSpPr>
        <p:spPr>
          <a:xfrm>
            <a:off x="5532120" y="3346560"/>
            <a:ext cx="60793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viagem só é preparada depois que as 9 renas chegaram.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Oval 26"/>
          <p:cNvSpPr/>
          <p:nvPr/>
        </p:nvSpPr>
        <p:spPr>
          <a:xfrm>
            <a:off x="5120640" y="4041720"/>
            <a:ext cx="291240" cy="291240"/>
          </a:xfrm>
          <a:prstGeom prst="ellipse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7"/>
          <p:cNvSpPr/>
          <p:nvPr/>
        </p:nvSpPr>
        <p:spPr>
          <a:xfrm>
            <a:off x="5532120" y="3968640"/>
            <a:ext cx="60793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Com as duas demandas prontas na decisão, renas primeiro, sem interromper uma ajuda já iniciada.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Oval 28"/>
          <p:cNvSpPr/>
          <p:nvPr/>
        </p:nvSpPr>
        <p:spPr>
          <a:xfrm>
            <a:off x="5120640" y="4663440"/>
            <a:ext cx="291240" cy="291240"/>
          </a:xfrm>
          <a:prstGeom prst="ellipse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9"/>
          <p:cNvSpPr/>
          <p:nvPr/>
        </p:nvSpPr>
        <p:spPr>
          <a:xfrm>
            <a:off x="5532120" y="4590360"/>
            <a:ext cx="60793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Versão finita: 1 viagem e 1 pedido por elfo; depois da viagem, os grupos restantes.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Oval 30"/>
          <p:cNvSpPr/>
          <p:nvPr/>
        </p:nvSpPr>
        <p:spPr>
          <a:xfrm>
            <a:off x="5120640" y="5285160"/>
            <a:ext cx="291240" cy="291240"/>
          </a:xfrm>
          <a:prstGeom prst="ellipse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31"/>
          <p:cNvSpPr/>
          <p:nvPr/>
        </p:nvSpPr>
        <p:spPr>
          <a:xfrm>
            <a:off x="5532120" y="5212080"/>
            <a:ext cx="60793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Fim: todos encerram quando as duas demandas terminam.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32"/>
          <p:cNvSpPr/>
          <p:nvPr/>
        </p:nvSpPr>
        <p:spPr>
          <a:xfrm>
            <a:off x="5120640" y="5852160"/>
            <a:ext cx="64908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b31b2b"/>
                </a:solidFill>
                <a:effectLst/>
                <a:uFillTx/>
                <a:latin typeface="Calibri"/>
              </a:rPr>
              <a:t>● em vermelho: regras que só valem com sincronização correta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3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enunciado do Tema 11; README.md; src/main.c (padrões --elfo0-ms 10, --ajuda-ms 3, --preparo-ms 5)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4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548640" y="182880"/>
            <a:ext cx="136116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1911240" y="182880"/>
            <a:ext cx="111420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3"/>
          <p:cNvSpPr/>
          <p:nvPr/>
        </p:nvSpPr>
        <p:spPr>
          <a:xfrm>
            <a:off x="3026520" y="182880"/>
            <a:ext cx="103176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4"/>
          <p:cNvSpPr/>
          <p:nvPr/>
        </p:nvSpPr>
        <p:spPr>
          <a:xfrm>
            <a:off x="3063240" y="438840"/>
            <a:ext cx="66600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5"/>
          <p:cNvSpPr/>
          <p:nvPr/>
        </p:nvSpPr>
        <p:spPr>
          <a:xfrm>
            <a:off x="4060080" y="182880"/>
            <a:ext cx="15256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6"/>
          <p:cNvSpPr/>
          <p:nvPr/>
        </p:nvSpPr>
        <p:spPr>
          <a:xfrm>
            <a:off x="5586840" y="182880"/>
            <a:ext cx="144324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7"/>
          <p:cNvSpPr/>
          <p:nvPr/>
        </p:nvSpPr>
        <p:spPr>
          <a:xfrm>
            <a:off x="7031880" y="182880"/>
            <a:ext cx="12787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8"/>
          <p:cNvSpPr/>
          <p:nvPr/>
        </p:nvSpPr>
        <p:spPr>
          <a:xfrm>
            <a:off x="548640" y="601200"/>
            <a:ext cx="1106280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Cada personagem é uma thread, e todas compartilham uma única struct Oficina protegida pelo mutex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6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197" name="Rectangle 10"/>
          <p:cNvSpPr/>
          <p:nvPr/>
        </p:nvSpPr>
        <p:spPr>
          <a:xfrm>
            <a:off x="548640" y="1828800"/>
            <a:ext cx="1461600" cy="73008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main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main.c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11"/>
          <p:cNvSpPr/>
          <p:nvPr/>
        </p:nvSpPr>
        <p:spPr>
          <a:xfrm>
            <a:off x="2743200" y="1783080"/>
            <a:ext cx="1644480" cy="775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c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Noel ×1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noel.c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9" name="Connector 12"/>
          <p:cNvCxnSpPr/>
          <p:nvPr/>
        </p:nvCxnSpPr>
        <p:spPr>
          <a:xfrm flipV="1">
            <a:off x="2011680" y="2166840"/>
            <a:ext cx="732960" cy="2916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cxnSp>
        <p:nvCxnSpPr>
          <p:cNvPr id="200" name="Connector 13"/>
          <p:cNvCxnSpPr/>
          <p:nvPr/>
        </p:nvCxnSpPr>
        <p:spPr>
          <a:xfrm>
            <a:off x="4389120" y="2166840"/>
            <a:ext cx="732960" cy="89784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201" name="Rectangle 14"/>
          <p:cNvSpPr/>
          <p:nvPr/>
        </p:nvSpPr>
        <p:spPr>
          <a:xfrm>
            <a:off x="2743200" y="2926080"/>
            <a:ext cx="1644480" cy="775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c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Rena ×9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rena.c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2" name="Connector 15"/>
          <p:cNvCxnSpPr/>
          <p:nvPr/>
        </p:nvCxnSpPr>
        <p:spPr>
          <a:xfrm>
            <a:off x="2011680" y="2194560"/>
            <a:ext cx="732960" cy="111672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cxnSp>
        <p:nvCxnSpPr>
          <p:cNvPr id="203" name="Connector 16"/>
          <p:cNvCxnSpPr/>
          <p:nvPr/>
        </p:nvCxnSpPr>
        <p:spPr>
          <a:xfrm flipV="1">
            <a:off x="4389120" y="3063240"/>
            <a:ext cx="732960" cy="24804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204" name="Rectangle 17"/>
          <p:cNvSpPr/>
          <p:nvPr/>
        </p:nvSpPr>
        <p:spPr>
          <a:xfrm>
            <a:off x="2743200" y="4069080"/>
            <a:ext cx="1644480" cy="7758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c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Elfo ×N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elfo.c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5" name="Connector 18"/>
          <p:cNvCxnSpPr/>
          <p:nvPr/>
        </p:nvCxnSpPr>
        <p:spPr>
          <a:xfrm>
            <a:off x="2011680" y="2194560"/>
            <a:ext cx="732960" cy="225972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cxnSp>
        <p:nvCxnSpPr>
          <p:cNvPr id="206" name="Connector 19"/>
          <p:cNvCxnSpPr/>
          <p:nvPr/>
        </p:nvCxnSpPr>
        <p:spPr>
          <a:xfrm flipV="1">
            <a:off x="4389120" y="3063240"/>
            <a:ext cx="732960" cy="139104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207" name="TextBox 20"/>
          <p:cNvSpPr/>
          <p:nvPr/>
        </p:nvSpPr>
        <p:spPr>
          <a:xfrm>
            <a:off x="548640" y="2651760"/>
            <a:ext cx="210168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pthread_create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(main.c:187-204)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21"/>
          <p:cNvSpPr/>
          <p:nvPr/>
        </p:nvSpPr>
        <p:spPr>
          <a:xfrm>
            <a:off x="5120640" y="1783080"/>
            <a:ext cx="2741760" cy="3701880"/>
          </a:xfrm>
          <a:prstGeom prst="rect">
            <a:avLst/>
          </a:prstGeom>
          <a:solidFill>
            <a:srgbClr val="e6efea"/>
          </a:solidFill>
          <a:ln w="15875">
            <a:solidFill>
              <a:srgbClr val="1f4d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22"/>
          <p:cNvSpPr/>
          <p:nvPr/>
        </p:nvSpPr>
        <p:spPr>
          <a:xfrm>
            <a:off x="5257800" y="1828800"/>
            <a:ext cx="25588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1f4d3a"/>
                </a:solidFill>
                <a:effectLst/>
                <a:uFillTx/>
                <a:latin typeface="Courier New"/>
              </a:rPr>
              <a:t>struct Oficina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3"/>
          <p:cNvSpPr/>
          <p:nvPr/>
        </p:nvSpPr>
        <p:spPr>
          <a:xfrm>
            <a:off x="5257800" y="2240280"/>
            <a:ext cx="2558880" cy="20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b31b2b"/>
                </a:solidFill>
                <a:effectLst/>
                <a:uFillTx/>
                <a:latin typeface="Courier New"/>
              </a:rPr>
              <a:t>mutex + 4 cond vars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largada, threads_prontas, t0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grupos[], grupo_aberto,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  grupos_fechados, proximo_grupo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renas_prontas, viagem_*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estado de Noel, abortar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invariantes e eventos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1" name="Table 24"/>
          <p:cNvGraphicFramePr/>
          <p:nvPr/>
        </p:nvGraphicFramePr>
        <p:xfrm>
          <a:off x="8183880" y="1783080"/>
          <a:ext cx="3474360" cy="3520440"/>
        </p:xfrm>
        <a:graphic>
          <a:graphicData uri="http://schemas.openxmlformats.org/drawingml/2006/table">
            <a:tbl>
              <a:tblPr/>
              <a:tblGrid>
                <a:gridCol w="1325880"/>
                <a:gridCol w="2148840"/>
              </a:tblGrid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Arquivo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Responsabilidade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main.c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argumentos, init, threads, largada, joins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noel.c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laço de decisão, ajuda, viagem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elfo.c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chega, entra no grupo, espera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rena.c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chega, conta-se, espera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tempo.c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CLOCK_MONOTONIC e sleeps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metricas.c, csv.c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métricas e CSVs após os joins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</a:tbl>
          </a:graphicData>
        </a:graphic>
      </p:graphicFrame>
      <p:sp>
        <p:nvSpPr>
          <p:cNvPr id="212" name="TextBox 25"/>
          <p:cNvSpPr/>
          <p:nvPr/>
        </p:nvSpPr>
        <p:spPr>
          <a:xfrm>
            <a:off x="548640" y="5715000"/>
            <a:ext cx="1106280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Todo campo mutável da Oficina só é lido ou escrito com o mutex travado. As exceções são cfg e t0, escritos antes da largada e nunca mais alterados.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6"/>
          <p:cNvSpPr/>
          <p:nvPr/>
        </p:nvSpPr>
        <p:spPr>
          <a:xfrm>
            <a:off x="548640" y="6428160"/>
            <a:ext cx="95997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src/comum.h:79-123; src/main.c:187-204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7"/>
          <p:cNvSpPr/>
          <p:nvPr/>
        </p:nvSpPr>
        <p:spPr>
          <a:xfrm>
            <a:off x="10972800" y="6428160"/>
            <a:ext cx="6660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4"/>
          <p:cNvSpPr/>
          <p:nvPr/>
        </p:nvSpPr>
        <p:spPr>
          <a:xfrm>
            <a:off x="3063240" y="438840"/>
            <a:ext cx="66600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5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A execução tem quatro fases, e só a terceira aplica a política do problema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3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224" name="Pentagon 10"/>
          <p:cNvSpPr/>
          <p:nvPr/>
        </p:nvSpPr>
        <p:spPr>
          <a:xfrm>
            <a:off x="548640" y="1828800"/>
            <a:ext cx="2604600" cy="592920"/>
          </a:xfrm>
          <a:prstGeom prst="homePlate">
            <a:avLst>
              <a:gd name="adj" fmla="val 50000"/>
            </a:avLst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 · Preparar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1"/>
          <p:cNvSpPr/>
          <p:nvPr/>
        </p:nvSpPr>
        <p:spPr>
          <a:xfrm>
            <a:off x="640080" y="2651760"/>
            <a:ext cx="246744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memset zera a Oficina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init do mutex e das 4 cond vars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cria 1 + 9 + N threads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2"/>
          <p:cNvSpPr/>
          <p:nvPr/>
        </p:nvSpPr>
        <p:spPr>
          <a:xfrm>
            <a:off x="640080" y="4069080"/>
            <a:ext cx="2467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1f4d3a"/>
                </a:solidFill>
                <a:effectLst/>
                <a:uFillTx/>
                <a:latin typeface="Courier New"/>
              </a:rPr>
              <a:t>main.c:109-140, 187-204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Chevron 13"/>
          <p:cNvSpPr/>
          <p:nvPr/>
        </p:nvSpPr>
        <p:spPr>
          <a:xfrm>
            <a:off x="3364920" y="1828800"/>
            <a:ext cx="2604600" cy="592920"/>
          </a:xfrm>
          <a:prstGeom prst="chevron">
            <a:avLst>
              <a:gd name="adj" fmla="val 50000"/>
            </a:avLst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 · Largar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4"/>
          <p:cNvSpPr/>
          <p:nvPr/>
        </p:nvSpPr>
        <p:spPr>
          <a:xfrm>
            <a:off x="3456360" y="2651760"/>
            <a:ext cx="246744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cada thread: prontas++ e espera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main: espera todas, grava t0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largada = 1 + broadcast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5"/>
          <p:cNvSpPr/>
          <p:nvPr/>
        </p:nvSpPr>
        <p:spPr>
          <a:xfrm>
            <a:off x="3456360" y="4069080"/>
            <a:ext cx="2467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1f4d3a"/>
                </a:solidFill>
                <a:effectLst/>
                <a:uFillTx/>
                <a:latin typeface="Courier New"/>
              </a:rPr>
              <a:t>main.c:25-31, 207-213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Chevron 16"/>
          <p:cNvSpPr/>
          <p:nvPr/>
        </p:nvSpPr>
        <p:spPr>
          <a:xfrm>
            <a:off x="6181200" y="1828800"/>
            <a:ext cx="2604600" cy="592920"/>
          </a:xfrm>
          <a:prstGeom prst="chevron">
            <a:avLst>
              <a:gd name="adj" fmla="val 50000"/>
            </a:avLst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 · Coordenar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7"/>
          <p:cNvSpPr/>
          <p:nvPr/>
        </p:nvSpPr>
        <p:spPr>
          <a:xfrm>
            <a:off x="6272640" y="2651760"/>
            <a:ext cx="246744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elfos formam grupos de 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renas se contam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Noel decide e executa tarefas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8"/>
          <p:cNvSpPr/>
          <p:nvPr/>
        </p:nvSpPr>
        <p:spPr>
          <a:xfrm>
            <a:off x="6272640" y="4069080"/>
            <a:ext cx="2467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1f4d3a"/>
                </a:solidFill>
                <a:effectLst/>
                <a:uFillTx/>
                <a:latin typeface="Courier New"/>
              </a:rPr>
              <a:t>elfo.c · rena.c · noel.c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Chevron 19"/>
          <p:cNvSpPr/>
          <p:nvPr/>
        </p:nvSpPr>
        <p:spPr>
          <a:xfrm>
            <a:off x="8997840" y="1828800"/>
            <a:ext cx="2604600" cy="592920"/>
          </a:xfrm>
          <a:prstGeom prst="chevron">
            <a:avLst>
              <a:gd name="adj" fmla="val 50000"/>
            </a:avLst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 · Encerrar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0"/>
          <p:cNvSpPr/>
          <p:nvPr/>
        </p:nvSpPr>
        <p:spPr>
          <a:xfrm>
            <a:off x="9089280" y="2651760"/>
            <a:ext cx="246744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Noel sai do laço + broadcasts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joins de todas as threads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destroy, métricas, CSVs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1"/>
          <p:cNvSpPr/>
          <p:nvPr/>
        </p:nvSpPr>
        <p:spPr>
          <a:xfrm>
            <a:off x="9089280" y="4069080"/>
            <a:ext cx="2467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1f4d3a"/>
                </a:solidFill>
                <a:effectLst/>
                <a:uFillTx/>
                <a:latin typeface="Courier New"/>
              </a:rPr>
              <a:t>noel.c:135-145; main.c:215-222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22"/>
          <p:cNvSpPr/>
          <p:nvPr/>
        </p:nvSpPr>
        <p:spPr>
          <a:xfrm>
            <a:off x="548640" y="4754880"/>
            <a:ext cx="11062800" cy="16920"/>
          </a:xfrm>
          <a:prstGeom prst="rect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23"/>
          <p:cNvSpPr/>
          <p:nvPr/>
        </p:nvSpPr>
        <p:spPr>
          <a:xfrm>
            <a:off x="548640" y="4892040"/>
            <a:ext cx="1106280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Por que a largada comum: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todas as threads partem do mesmo t0, então os instantes medidos são comparáveis. É uma barreira feita à mão com contador + cond var, não pthread_barrier.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Os sleeps só simulam durações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(clock_nanosleep absoluto: chegada, ajuda de 3 ms, preparação de 5 ms). Nenhuma coordenação depende deles.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24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src/main.c; src/tempo.c:43-50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25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5"/>
          <p:cNvSpPr/>
          <p:nvPr/>
        </p:nvSpPr>
        <p:spPr>
          <a:xfrm>
            <a:off x="4096440" y="438840"/>
            <a:ext cx="115992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Um mutex e quatro variáveis de condição, nenhum semáforo, coordenam o programa inteiro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8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graphicFrame>
        <p:nvGraphicFramePr>
          <p:cNvPr id="249" name="Table 10"/>
          <p:cNvGraphicFramePr/>
          <p:nvPr/>
        </p:nvGraphicFramePr>
        <p:xfrm>
          <a:off x="548640" y="1691640"/>
          <a:ext cx="11063880" cy="3730320"/>
        </p:xfrm>
        <a:graphic>
          <a:graphicData uri="http://schemas.openxmlformats.org/drawingml/2006/table">
            <a:tbl>
              <a:tblPr/>
              <a:tblGrid>
                <a:gridCol w="1417320"/>
                <a:gridCol w="1828800"/>
                <a:gridCol w="1691640"/>
                <a:gridCol w="2148840"/>
                <a:gridCol w="2331720"/>
                <a:gridCol w="1645920"/>
              </a:tblGrid>
              <a:tr h="6217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Mecanismo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Inicializado em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Começa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Quem espera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Quem avisa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Coordena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</a:tr>
              <a:tr h="6217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b31b2b"/>
                          </a:solidFill>
                          <a:effectLst/>
                          <a:uFillTx/>
                          <a:latin typeface="Courier New"/>
                        </a:rPr>
                        <a:t>mutex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main.c:131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destravado, sem dono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todos (lock)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o dono (unlock)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todo o estado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urier New"/>
                        </a:rPr>
                        <a:t>cv_largada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main.c:132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fila vazia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threads (main.c:30); main (209)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broadcast main.c:28, 212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sinal de início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6217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urier New"/>
                        </a:rPr>
                        <a:t>cv_noel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main.c:136-139, CLOCK_MONOTONIC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fila vazia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só Noel: timedwait noel.c:101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signal: 9ª rena rena.c:33; 3º elfo elfo.c:53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há trabalho para Noel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urier New"/>
                        </a:rPr>
                        <a:t>cv_elfos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main.c:133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fila vazia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elfos (elfo.c:58)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broadcast noel.c:73, 143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grupo concluído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62172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urier New"/>
                        </a:rPr>
                        <a:t>cv_renas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main.c:134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fila vazia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renas (rena.c:37)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broadcast noel.c:41, 144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viagem concluída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0" name="Rectangle 11"/>
          <p:cNvSpPr/>
          <p:nvPr/>
        </p:nvSpPr>
        <p:spPr>
          <a:xfrm>
            <a:off x="548640" y="5532120"/>
            <a:ext cx="62640" cy="63864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12"/>
          <p:cNvSpPr/>
          <p:nvPr/>
        </p:nvSpPr>
        <p:spPr>
          <a:xfrm>
            <a:off x="713160" y="5532120"/>
            <a:ext cx="108982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Variável de condição não tem valor: o que tem valor inicial são os predicados que ela observa, todos zerados pelo memset (main.c:109).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3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src/comum.h:82-86; src/main.c:131-140; grep sem_|pthread_barrier em src/ = 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4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5"/>
          <p:cNvSpPr/>
          <p:nvPr/>
        </p:nvSpPr>
        <p:spPr>
          <a:xfrm>
            <a:off x="4096440" y="438840"/>
            <a:ext cx="115992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O mutex nasce destravado em main.c:131, antes de qualquer thread existir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2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263" name="Rectangle 10"/>
          <p:cNvSpPr/>
          <p:nvPr/>
        </p:nvSpPr>
        <p:spPr>
          <a:xfrm>
            <a:off x="548640" y="1691640"/>
            <a:ext cx="6307920" cy="3247560"/>
          </a:xfrm>
          <a:prstGeom prst="rect">
            <a:avLst/>
          </a:prstGeom>
          <a:solidFill>
            <a:srgbClr val="1e22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1"/>
          <p:cNvSpPr/>
          <p:nvPr/>
        </p:nvSpPr>
        <p:spPr>
          <a:xfrm>
            <a:off x="640080" y="1764720"/>
            <a:ext cx="6125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src/main.c · iniciar_oficina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2"/>
          <p:cNvSpPr/>
          <p:nvPr/>
        </p:nvSpPr>
        <p:spPr>
          <a:xfrm>
            <a:off x="621720" y="2057400"/>
            <a:ext cx="6161760" cy="31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107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static int iniciar_oficina(Oficina *o, const Config *c)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108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{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109      memset(o, 0, sizeof *o);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131      pthread_mutex_init(&amp;o-&gt;mutex, NULL);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132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pthread_cond_init(&amp;o-&gt;cv_largada, NULL);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133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pthread_cond_init(&amp;o-&gt;cv_elfos, NULL);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134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pthread_cond_init(&amp;o-&gt;cv_renas, NULL);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135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/* cv_noel usa o relógio monotônico, para o timeout…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136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pthread_condattr_t at;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137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pthread_condattr_init(&amp;at);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138      pthread_condattr_setclock(&amp;at, CLOCK_MONOTONIC);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139      pthread_cond_init(&amp;o-&gt;cv_noel, &amp;at);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140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pthread_condattr_destroy(&amp;at);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Oval 13"/>
          <p:cNvSpPr/>
          <p:nvPr/>
        </p:nvSpPr>
        <p:spPr>
          <a:xfrm>
            <a:off x="7132320" y="1737360"/>
            <a:ext cx="382680" cy="382680"/>
          </a:xfrm>
          <a:prstGeom prst="ellipse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4"/>
          <p:cNvSpPr/>
          <p:nvPr/>
        </p:nvSpPr>
        <p:spPr>
          <a:xfrm>
            <a:off x="7635240" y="1691640"/>
            <a:ext cx="402192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memset (109)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zera todos os predicados: 0 renas prontas, 0 grupos fechados, largada = 0, viagem não iniciada.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Oval 15"/>
          <p:cNvSpPr/>
          <p:nvPr/>
        </p:nvSpPr>
        <p:spPr>
          <a:xfrm>
            <a:off x="7132320" y="3017520"/>
            <a:ext cx="382680" cy="382680"/>
          </a:xfrm>
          <a:prstGeom prst="ellipse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6"/>
          <p:cNvSpPr/>
          <p:nvPr/>
        </p:nvSpPr>
        <p:spPr>
          <a:xfrm>
            <a:off x="7635240" y="2971800"/>
            <a:ext cx="402192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pthread_mutex_init(&amp;o-&gt;mutex, NULL) (131)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NULL = atributos padrão: não recursivo, privado ao processo. Começa destravado e sem dono.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Oval 17"/>
          <p:cNvSpPr/>
          <p:nvPr/>
        </p:nvSpPr>
        <p:spPr>
          <a:xfrm>
            <a:off x="7132320" y="4297680"/>
            <a:ext cx="382680" cy="382680"/>
          </a:xfrm>
          <a:prstGeom prst="ellipse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8"/>
          <p:cNvSpPr/>
          <p:nvPr/>
        </p:nvSpPr>
        <p:spPr>
          <a:xfrm>
            <a:off x="7635240" y="4251960"/>
            <a:ext cx="402192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setclock + cond_init (138-139)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cv_noel usa CLOCK_MONOTONIC: o prazo do timedwait usa o mesmo relógio de t0 e não muda se a hora do sistema for ajustada.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19"/>
          <p:cNvSpPr/>
          <p:nvPr/>
        </p:nvSpPr>
        <p:spPr>
          <a:xfrm>
            <a:off x="548640" y="5532120"/>
            <a:ext cx="11062800" cy="59292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2736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Ordem no tempo: 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init (131)  →  pthread_create (187)  →  …  →  joins (215-219)  →  destroy (222)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20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src/main.c:107-140, 150, 222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21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5"/>
          <p:cNvSpPr/>
          <p:nvPr/>
        </p:nvSpPr>
        <p:spPr>
          <a:xfrm>
            <a:off x="4096440" y="438840"/>
            <a:ext cx="115992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Toda espera segue o mesmo padrão: testar em while e dormir soltando o mutex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3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284" name="Rectangle 10"/>
          <p:cNvSpPr/>
          <p:nvPr/>
        </p:nvSpPr>
        <p:spPr>
          <a:xfrm>
            <a:off x="548640" y="1691640"/>
            <a:ext cx="5119200" cy="5655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2736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lock(mutex)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entra na seção crítica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Connector 11"/>
          <p:cNvCxnSpPr/>
          <p:nvPr/>
        </p:nvCxnSpPr>
        <p:spPr>
          <a:xfrm>
            <a:off x="3108960" y="2258280"/>
            <a:ext cx="1440" cy="14796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286" name="Rectangle 12"/>
          <p:cNvSpPr/>
          <p:nvPr/>
        </p:nvSpPr>
        <p:spPr>
          <a:xfrm>
            <a:off x="548640" y="2404800"/>
            <a:ext cx="5119200" cy="5655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2736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while (!predicado)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estado ainda não permite seguir?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7" name="Connector 13"/>
          <p:cNvCxnSpPr/>
          <p:nvPr/>
        </p:nvCxnSpPr>
        <p:spPr>
          <a:xfrm>
            <a:off x="3108960" y="2971800"/>
            <a:ext cx="1440" cy="14760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288" name="Rectangle 14"/>
          <p:cNvSpPr/>
          <p:nvPr/>
        </p:nvSpPr>
        <p:spPr>
          <a:xfrm>
            <a:off x="548640" y="3117960"/>
            <a:ext cx="5119200" cy="56556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2736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urier New"/>
              </a:rPr>
              <a:t>cond_wait(&amp;cv, &amp;mutex)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solta o mutex e dorme, de forma atômica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89" name="Connector 15"/>
          <p:cNvCxnSpPr/>
          <p:nvPr/>
        </p:nvCxnSpPr>
        <p:spPr>
          <a:xfrm>
            <a:off x="3108960" y="3684960"/>
            <a:ext cx="1440" cy="14760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290" name="Rectangle 16"/>
          <p:cNvSpPr/>
          <p:nvPr/>
        </p:nvSpPr>
        <p:spPr>
          <a:xfrm>
            <a:off x="548640" y="3831480"/>
            <a:ext cx="5119200" cy="5655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2736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outra thread muda o estado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 chama signal / broadcast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1" name="Connector 17"/>
          <p:cNvCxnSpPr/>
          <p:nvPr/>
        </p:nvCxnSpPr>
        <p:spPr>
          <a:xfrm>
            <a:off x="3108960" y="4398120"/>
            <a:ext cx="1440" cy="14760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292" name="Rectangle 18"/>
          <p:cNvSpPr/>
          <p:nvPr/>
        </p:nvSpPr>
        <p:spPr>
          <a:xfrm>
            <a:off x="548640" y="4544640"/>
            <a:ext cx="5119200" cy="5655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2736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acorda e retoma o mutex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volta ao while e testa de novo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3" name="Connector 19"/>
          <p:cNvCxnSpPr/>
          <p:nvPr/>
        </p:nvCxnSpPr>
        <p:spPr>
          <a:xfrm>
            <a:off x="3108960" y="5111280"/>
            <a:ext cx="1440" cy="14796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294" name="Rectangle 20"/>
          <p:cNvSpPr/>
          <p:nvPr/>
        </p:nvSpPr>
        <p:spPr>
          <a:xfrm>
            <a:off x="548640" y="5257800"/>
            <a:ext cx="5119200" cy="56556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27360" bIns="2736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ourier New"/>
              </a:rPr>
              <a:t>predicado verdadeiro → age → unlock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95" name="Connector 21"/>
          <p:cNvCxnSpPr/>
          <p:nvPr/>
        </p:nvCxnSpPr>
        <p:spPr>
          <a:xfrm>
            <a:off x="5669280" y="4709160"/>
            <a:ext cx="230040" cy="1440"/>
          </a:xfrm>
          <a:prstGeom prst="straightConnector1">
            <a:avLst/>
          </a:prstGeom>
          <a:ln w="15875">
            <a:solidFill>
              <a:srgbClr val="8a8c88"/>
            </a:solidFill>
            <a:round/>
          </a:ln>
        </p:spPr>
      </p:cxnSp>
      <p:cxnSp>
        <p:nvCxnSpPr>
          <p:cNvPr id="296" name="Connector 22"/>
          <p:cNvCxnSpPr/>
          <p:nvPr/>
        </p:nvCxnSpPr>
        <p:spPr>
          <a:xfrm flipV="1">
            <a:off x="5897880" y="2697480"/>
            <a:ext cx="1440" cy="2013120"/>
          </a:xfrm>
          <a:prstGeom prst="straightConnector1">
            <a:avLst/>
          </a:prstGeom>
          <a:ln w="15875">
            <a:solidFill>
              <a:srgbClr val="8a8c88"/>
            </a:solidFill>
            <a:round/>
          </a:ln>
        </p:spPr>
      </p:cxnSp>
      <p:cxnSp>
        <p:nvCxnSpPr>
          <p:cNvPr id="297" name="Connector 23"/>
          <p:cNvCxnSpPr/>
          <p:nvPr/>
        </p:nvCxnSpPr>
        <p:spPr>
          <a:xfrm flipH="1">
            <a:off x="5669280" y="2697480"/>
            <a:ext cx="230040" cy="144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298" name="Rectangle 24"/>
          <p:cNvSpPr/>
          <p:nvPr/>
        </p:nvSpPr>
        <p:spPr>
          <a:xfrm>
            <a:off x="6309360" y="1691640"/>
            <a:ext cx="5302080" cy="1068480"/>
          </a:xfrm>
          <a:prstGeom prst="rect">
            <a:avLst/>
          </a:prstGeom>
          <a:solidFill>
            <a:srgbClr val="1e22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25"/>
          <p:cNvSpPr/>
          <p:nvPr/>
        </p:nvSpPr>
        <p:spPr>
          <a:xfrm>
            <a:off x="6400800" y="1764720"/>
            <a:ext cx="5119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src/rena.c · a rena espera a viagem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6"/>
          <p:cNvSpPr/>
          <p:nvPr/>
        </p:nvSpPr>
        <p:spPr>
          <a:xfrm>
            <a:off x="6382440" y="2057400"/>
            <a:ext cx="5155920" cy="92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36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while (!o-&gt;viagem_concluida &amp;&amp; !o-&gt;abortar)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37      pthread_cond_wait(&amp;o-&gt;cv_renas, &amp;o-&gt;mutex…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38  </a:t>
            </a:r>
            <a:r>
              <a:rPr lang="en-US" sz="13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pthread_mutex_unlock(&amp;o-&gt;mutex);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1" name="Table 27"/>
          <p:cNvGraphicFramePr/>
          <p:nvPr/>
        </p:nvGraphicFramePr>
        <p:xfrm>
          <a:off x="6309360" y="2926080"/>
          <a:ext cx="5303160" cy="153504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1920240"/>
              </a:tblGrid>
              <a:tr h="383760">
                <a:tc>
                  <a:txBody>
                    <a:bodyPr lIns="63720" rIns="63720" tIns="27360" bIns="273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lock no mutex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cond_wait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</a:tr>
              <a:tr h="383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Quer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acesso exclusivo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um evento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Segura o mutex?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ainda não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não: soltou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383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Dura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µs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ms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2" name="TextBox 28"/>
          <p:cNvSpPr/>
          <p:nvPr/>
        </p:nvSpPr>
        <p:spPr>
          <a:xfrm>
            <a:off x="6309360" y="4617720"/>
            <a:ext cx="530208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Por que while e não if: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thread pode acordar sem motivo, e um broadcast em cv_elfos acorda elfos de outros grupos, que precisam voltar a dormir.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29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src/rena.c:36-38; src/elfo.c:57-58; src/noel.c:100-107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30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5"/>
          <p:cNvSpPr/>
          <p:nvPr/>
        </p:nvSpPr>
        <p:spPr>
          <a:xfrm>
            <a:off x="4096440" y="438840"/>
            <a:ext cx="115992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O 3º elfo fecha o grupo na mesma seção crítica, por isso um 4º elfo nunca entra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3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314" name="Rectangle 10"/>
          <p:cNvSpPr/>
          <p:nvPr/>
        </p:nvSpPr>
        <p:spPr>
          <a:xfrm>
            <a:off x="548640" y="1691640"/>
            <a:ext cx="6033600" cy="3583080"/>
          </a:xfrm>
          <a:prstGeom prst="rect">
            <a:avLst/>
          </a:prstGeom>
          <a:solidFill>
            <a:srgbClr val="1e22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11"/>
          <p:cNvSpPr/>
          <p:nvPr/>
        </p:nvSpPr>
        <p:spPr>
          <a:xfrm>
            <a:off x="640080" y="1764720"/>
            <a:ext cx="5850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src/elfo.c · tudo entre o lock (27) e o wait (58)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2"/>
          <p:cNvSpPr/>
          <p:nvPr/>
        </p:nvSpPr>
        <p:spPr>
          <a:xfrm>
            <a:off x="621720" y="2057400"/>
            <a:ext cx="5887440" cy="34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27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pthread_mutex_lock(&amp;o-&gt;mutex);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34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int g = o-&gt;grupo_aberto;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35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Grupo *gr = &amp;o-&gt;grupos[g];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36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if (gr-&gt;estado != GRUPO_ABERTO || gr-&gt;n &gt;= TAM_GRUPO) 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41  gr-&gt;membros[gr-&gt;n++] = id;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45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if (gr-&gt;n == TAM_GRUPO) 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47      gr-&gt;estado = GRUPO_PRONTO;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49      o-&gt;grupos_fechados++;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50      if (o-&gt;grupo_aberto + 1 &lt; o-&gt;n_grupos)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51          o-&gt;grupo_aberto++;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53      pthread_cond_signal(&amp;o-&gt;cv_noel);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13"/>
          <p:cNvSpPr/>
          <p:nvPr/>
        </p:nvSpPr>
        <p:spPr>
          <a:xfrm>
            <a:off x="6858000" y="1691640"/>
            <a:ext cx="47534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6 ELFOS, 2 GRUPOS: ESTADO APÓS CADA ELFO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8" name="Table 14"/>
          <p:cNvGraphicFramePr/>
          <p:nvPr/>
        </p:nvGraphicFramePr>
        <p:xfrm>
          <a:off x="6858000" y="2011680"/>
          <a:ext cx="4754520" cy="2686320"/>
        </p:xfrm>
        <a:graphic>
          <a:graphicData uri="http://schemas.openxmlformats.org/drawingml/2006/table">
            <a:tbl>
              <a:tblPr/>
              <a:tblGrid>
                <a:gridCol w="685800"/>
                <a:gridCol w="1463040"/>
                <a:gridCol w="777240"/>
                <a:gridCol w="777240"/>
                <a:gridCol w="1051560"/>
              </a:tblGrid>
              <a:tr h="383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Elfo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Ação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g0.n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g1.n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aberto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</a:tr>
              <a:tr h="383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entra em g0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entra em g0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383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e5e7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fecha g0 · signal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e5e7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e5e7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e5e7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b31b2b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e5e7"/>
                    </a:solidFill>
                  </a:tcPr>
                </a:tc>
              </a:tr>
              <a:tr h="383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entra em g1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383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entra em g1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fecha g1 · signal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1*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</a:tbl>
          </a:graphicData>
        </a:graphic>
      </p:graphicFrame>
      <p:sp>
        <p:nvSpPr>
          <p:cNvPr id="319" name="TextBox 15"/>
          <p:cNvSpPr/>
          <p:nvPr/>
        </p:nvSpPr>
        <p:spPr>
          <a:xfrm>
            <a:off x="6858000" y="4754880"/>
            <a:ext cx="4753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* último grupo: grupo_aberto não avança (elfo.c:50)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 16"/>
          <p:cNvSpPr/>
          <p:nvPr/>
        </p:nvSpPr>
        <p:spPr>
          <a:xfrm>
            <a:off x="548640" y="5349240"/>
            <a:ext cx="62640" cy="77580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17"/>
          <p:cNvSpPr/>
          <p:nvPr/>
        </p:nvSpPr>
        <p:spPr>
          <a:xfrm>
            <a:off x="713160" y="5349240"/>
            <a:ext cx="10898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Inscrever, marcar PRONTO, contar o grupo e avançar grupo_aberto acontecem sem soltar o mutex: não existe instante em que o elfo 3 veja g0 com 3 membros e ainda aberto.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8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src/elfo.c:27-58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9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5"/>
          <p:cNvSpPr/>
          <p:nvPr/>
        </p:nvSpPr>
        <p:spPr>
          <a:xfrm>
            <a:off x="4096440" y="438840"/>
            <a:ext cx="115992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A 9ª rena acorda Noel; ao fim da preparação, um único broadcast libera as nove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2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333" name="TextBox 10"/>
          <p:cNvSpPr/>
          <p:nvPr/>
        </p:nvSpPr>
        <p:spPr>
          <a:xfrm>
            <a:off x="548640" y="2011680"/>
            <a:ext cx="1370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Renas 1–8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11"/>
          <p:cNvSpPr/>
          <p:nvPr/>
        </p:nvSpPr>
        <p:spPr>
          <a:xfrm>
            <a:off x="2011680" y="2231280"/>
            <a:ext cx="9599760" cy="16920"/>
          </a:xfrm>
          <a:prstGeom prst="rect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12"/>
          <p:cNvSpPr/>
          <p:nvPr/>
        </p:nvSpPr>
        <p:spPr>
          <a:xfrm>
            <a:off x="548640" y="2926080"/>
            <a:ext cx="1370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9ª rena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13"/>
          <p:cNvSpPr/>
          <p:nvPr/>
        </p:nvSpPr>
        <p:spPr>
          <a:xfrm>
            <a:off x="2011680" y="3145680"/>
            <a:ext cx="9599760" cy="16920"/>
          </a:xfrm>
          <a:prstGeom prst="rect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14"/>
          <p:cNvSpPr/>
          <p:nvPr/>
        </p:nvSpPr>
        <p:spPr>
          <a:xfrm>
            <a:off x="548640" y="3840480"/>
            <a:ext cx="1370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15"/>
          <p:cNvSpPr/>
          <p:nvPr/>
        </p:nvSpPr>
        <p:spPr>
          <a:xfrm>
            <a:off x="2011680" y="4060080"/>
            <a:ext cx="9599760" cy="16920"/>
          </a:xfrm>
          <a:prstGeom prst="rect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9" name="Rectangle 16"/>
          <p:cNvSpPr/>
          <p:nvPr/>
        </p:nvSpPr>
        <p:spPr>
          <a:xfrm>
            <a:off x="2194560" y="2011680"/>
            <a:ext cx="3016080" cy="4557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lock · renas_prontas++ · cond_wait(cv_renas)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17"/>
          <p:cNvSpPr/>
          <p:nvPr/>
        </p:nvSpPr>
        <p:spPr>
          <a:xfrm>
            <a:off x="2194560" y="2926080"/>
            <a:ext cx="3016080" cy="455760"/>
          </a:xfrm>
          <a:prstGeom prst="rect">
            <a:avLst/>
          </a:prstGeom>
          <a:solidFill>
            <a:srgbClr val="5b4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lock · ++ → 9 · t_nona · signal(cv_noel)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18"/>
          <p:cNvSpPr/>
          <p:nvPr/>
        </p:nvSpPr>
        <p:spPr>
          <a:xfrm>
            <a:off x="5440680" y="3840480"/>
            <a:ext cx="2376000" cy="45576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acorda · renas_ok = 1 · decide: viagem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19"/>
          <p:cNvSpPr/>
          <p:nvPr/>
        </p:nvSpPr>
        <p:spPr>
          <a:xfrm>
            <a:off x="7955280" y="3840480"/>
            <a:ext cx="2010240" cy="455760"/>
          </a:xfrm>
          <a:prstGeom prst="rect">
            <a:avLst/>
          </a:prstGeom>
          <a:solidFill>
            <a:srgbClr val="eb68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unlock · prepara 5 ms · lock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20"/>
          <p:cNvSpPr/>
          <p:nvPr/>
        </p:nvSpPr>
        <p:spPr>
          <a:xfrm>
            <a:off x="10058400" y="2926080"/>
            <a:ext cx="1553040" cy="45576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broadcast(cv_renas)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44" name="Connector 21"/>
          <p:cNvCxnSpPr/>
          <p:nvPr/>
        </p:nvCxnSpPr>
        <p:spPr>
          <a:xfrm>
            <a:off x="5212080" y="3383280"/>
            <a:ext cx="275760" cy="458640"/>
          </a:xfrm>
          <a:prstGeom prst="straightConnector1">
            <a:avLst/>
          </a:prstGeom>
          <a:ln w="19050">
            <a:solidFill>
              <a:srgbClr val="5b4fd6"/>
            </a:solidFill>
            <a:round/>
            <a:tailEnd len="med" type="triangle" w="med"/>
          </a:ln>
        </p:spPr>
      </p:cxnSp>
      <p:cxnSp>
        <p:nvCxnSpPr>
          <p:cNvPr id="345" name="Connector 22"/>
          <p:cNvCxnSpPr/>
          <p:nvPr/>
        </p:nvCxnSpPr>
        <p:spPr>
          <a:xfrm flipV="1">
            <a:off x="10835640" y="3383280"/>
            <a:ext cx="1440" cy="458640"/>
          </a:xfrm>
          <a:prstGeom prst="straightConnector1">
            <a:avLst/>
          </a:prstGeom>
          <a:ln w="19050">
            <a:solidFill>
              <a:srgbClr val="1f4d3a"/>
            </a:solidFill>
            <a:round/>
            <a:tailEnd len="med" type="triangle" w="med"/>
          </a:ln>
        </p:spPr>
      </p:cxnSp>
      <p:cxnSp>
        <p:nvCxnSpPr>
          <p:cNvPr id="346" name="Connector 23"/>
          <p:cNvCxnSpPr/>
          <p:nvPr/>
        </p:nvCxnSpPr>
        <p:spPr>
          <a:xfrm flipV="1">
            <a:off x="10835640" y="2468880"/>
            <a:ext cx="1440" cy="458640"/>
          </a:xfrm>
          <a:prstGeom prst="straightConnector1">
            <a:avLst/>
          </a:prstGeom>
          <a:ln w="19050">
            <a:solidFill>
              <a:srgbClr val="1f4d3a"/>
            </a:solidFill>
            <a:round/>
            <a:tailEnd len="med" type="triangle" w="med"/>
          </a:ln>
        </p:spPr>
      </p:cxnSp>
      <p:sp>
        <p:nvSpPr>
          <p:cNvPr id="347" name="TextBox 24"/>
          <p:cNvSpPr/>
          <p:nvPr/>
        </p:nvSpPr>
        <p:spPr>
          <a:xfrm>
            <a:off x="2194560" y="3429000"/>
            <a:ext cx="3198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5b4fd6"/>
                </a:solidFill>
                <a:effectLst/>
                <a:uFillTx/>
                <a:latin typeface="Calibri"/>
              </a:rPr>
              <a:t>10,091 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5"/>
          <p:cNvSpPr/>
          <p:nvPr/>
        </p:nvSpPr>
        <p:spPr>
          <a:xfrm>
            <a:off x="5440680" y="4343400"/>
            <a:ext cx="237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decisão em 10,108 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6"/>
          <p:cNvSpPr/>
          <p:nvPr/>
        </p:nvSpPr>
        <p:spPr>
          <a:xfrm>
            <a:off x="9144000" y="4343400"/>
            <a:ext cx="24674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fim em 15,185 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27"/>
          <p:cNvSpPr/>
          <p:nvPr/>
        </p:nvSpPr>
        <p:spPr>
          <a:xfrm>
            <a:off x="548640" y="4754880"/>
            <a:ext cx="5759280" cy="1278720"/>
          </a:xfrm>
          <a:prstGeom prst="rect">
            <a:avLst/>
          </a:prstGeom>
          <a:solidFill>
            <a:srgbClr val="1e22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28"/>
          <p:cNvSpPr/>
          <p:nvPr/>
        </p:nvSpPr>
        <p:spPr>
          <a:xfrm>
            <a:off x="621720" y="4827960"/>
            <a:ext cx="5613120" cy="113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28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o-&gt;renas_prontas++;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30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if (o-&gt;renas_prontas == NUM_RENAS) 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31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o-&gt;t_nona = ms_desde_inicio(o);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32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registrar(o, PART_RENA, a-&gt;id, EV_NONA_RENA, 0);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33      pthread_cond_signal(&amp;o-&gt;cv_noel);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29"/>
          <p:cNvSpPr/>
          <p:nvPr/>
        </p:nvSpPr>
        <p:spPr>
          <a:xfrm>
            <a:off x="6583680" y="4754880"/>
            <a:ext cx="50277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Só a nona avisa: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as outras oito só se contam. Noel não precisa acordar 9 vezes.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Resposta às renas: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17 µs nesta execução (média 18 µs).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30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src/rena.c:23-38; src/noel.c:19-42; dados/eventos.csv (E06_R10_rep1)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31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ectangle 5"/>
          <p:cNvSpPr/>
          <p:nvPr/>
        </p:nvSpPr>
        <p:spPr>
          <a:xfrm>
            <a:off x="4096440" y="438840"/>
            <a:ext cx="115992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Noel decide sozinho, com o mutex, e testa as renas antes da fila de elfos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3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364" name="Rectangle 10"/>
          <p:cNvSpPr/>
          <p:nvPr/>
        </p:nvSpPr>
        <p:spPr>
          <a:xfrm>
            <a:off x="548640" y="1783080"/>
            <a:ext cx="2741760" cy="5655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topo do laço (mutex travado)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Rectangle 11"/>
          <p:cNvSpPr/>
          <p:nvPr/>
        </p:nvSpPr>
        <p:spPr>
          <a:xfrm>
            <a:off x="548640" y="2606040"/>
            <a:ext cx="2741760" cy="5655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viagem e todos os grupos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concluídos? → encerra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12"/>
          <p:cNvSpPr/>
          <p:nvPr/>
        </p:nvSpPr>
        <p:spPr>
          <a:xfrm>
            <a:off x="548640" y="3429000"/>
            <a:ext cx="2741760" cy="5655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lê renas_ok e elfos_ok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ectangle 13"/>
          <p:cNvSpPr/>
          <p:nvPr/>
        </p:nvSpPr>
        <p:spPr>
          <a:xfrm>
            <a:off x="548640" y="4251960"/>
            <a:ext cx="2741760" cy="56556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nada pronto → timedwait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(cv_noel), depois volta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Rectangle 14"/>
          <p:cNvSpPr/>
          <p:nvPr/>
        </p:nvSpPr>
        <p:spPr>
          <a:xfrm>
            <a:off x="548640" y="5074920"/>
            <a:ext cx="2741760" cy="56556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renas_ok? → viagem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senão → grupo mais antigo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69" name="Connector 15"/>
          <p:cNvCxnSpPr/>
          <p:nvPr/>
        </p:nvCxnSpPr>
        <p:spPr>
          <a:xfrm>
            <a:off x="1920240" y="2349720"/>
            <a:ext cx="1440" cy="25740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cxnSp>
        <p:nvCxnSpPr>
          <p:cNvPr id="370" name="Connector 16"/>
          <p:cNvCxnSpPr/>
          <p:nvPr/>
        </p:nvCxnSpPr>
        <p:spPr>
          <a:xfrm>
            <a:off x="1920240" y="3172680"/>
            <a:ext cx="1440" cy="25776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cxnSp>
        <p:nvCxnSpPr>
          <p:cNvPr id="371" name="Connector 17"/>
          <p:cNvCxnSpPr/>
          <p:nvPr/>
        </p:nvCxnSpPr>
        <p:spPr>
          <a:xfrm>
            <a:off x="1920240" y="3995640"/>
            <a:ext cx="1440" cy="25776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cxnSp>
        <p:nvCxnSpPr>
          <p:cNvPr id="372" name="Connector 18"/>
          <p:cNvCxnSpPr/>
          <p:nvPr/>
        </p:nvCxnSpPr>
        <p:spPr>
          <a:xfrm>
            <a:off x="1920240" y="4818600"/>
            <a:ext cx="1440" cy="25776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cxnSp>
        <p:nvCxnSpPr>
          <p:cNvPr id="373" name="Connector 19"/>
          <p:cNvCxnSpPr/>
          <p:nvPr/>
        </p:nvCxnSpPr>
        <p:spPr>
          <a:xfrm>
            <a:off x="3291840" y="5358240"/>
            <a:ext cx="230040" cy="1440"/>
          </a:xfrm>
          <a:prstGeom prst="straightConnector1">
            <a:avLst/>
          </a:prstGeom>
          <a:ln w="15875">
            <a:solidFill>
              <a:srgbClr val="8a8c88"/>
            </a:solidFill>
            <a:round/>
          </a:ln>
        </p:spPr>
      </p:cxnSp>
      <p:cxnSp>
        <p:nvCxnSpPr>
          <p:cNvPr id="374" name="Connector 20"/>
          <p:cNvCxnSpPr/>
          <p:nvPr/>
        </p:nvCxnSpPr>
        <p:spPr>
          <a:xfrm flipV="1">
            <a:off x="3520440" y="2066400"/>
            <a:ext cx="1440" cy="3293280"/>
          </a:xfrm>
          <a:prstGeom prst="straightConnector1">
            <a:avLst/>
          </a:prstGeom>
          <a:ln w="15875">
            <a:solidFill>
              <a:srgbClr val="8a8c88"/>
            </a:solidFill>
            <a:round/>
          </a:ln>
        </p:spPr>
      </p:cxnSp>
      <p:cxnSp>
        <p:nvCxnSpPr>
          <p:cNvPr id="375" name="Connector 21"/>
          <p:cNvCxnSpPr/>
          <p:nvPr/>
        </p:nvCxnSpPr>
        <p:spPr>
          <a:xfrm flipH="1">
            <a:off x="3291840" y="2066400"/>
            <a:ext cx="230040" cy="1440"/>
          </a:xfrm>
          <a:prstGeom prst="straightConnector1">
            <a:avLst/>
          </a:prstGeom>
          <a:ln w="15875">
            <a:solidFill>
              <a:srgbClr val="8a8c88"/>
            </a:solidFill>
            <a:round/>
            <a:tailEnd len="med" type="triangle" w="med"/>
          </a:ln>
        </p:spPr>
      </p:cxnSp>
      <p:sp>
        <p:nvSpPr>
          <p:cNvPr id="376" name="TextBox 22"/>
          <p:cNvSpPr/>
          <p:nvPr/>
        </p:nvSpPr>
        <p:spPr>
          <a:xfrm>
            <a:off x="3566160" y="3474720"/>
            <a:ext cx="82152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após a tarefa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23"/>
          <p:cNvSpPr/>
          <p:nvPr/>
        </p:nvSpPr>
        <p:spPr>
          <a:xfrm>
            <a:off x="4480560" y="1691640"/>
            <a:ext cx="7130880" cy="3583080"/>
          </a:xfrm>
          <a:prstGeom prst="rect">
            <a:avLst/>
          </a:prstGeom>
          <a:solidFill>
            <a:srgbClr val="1e22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24"/>
          <p:cNvSpPr/>
          <p:nvPr/>
        </p:nvSpPr>
        <p:spPr>
          <a:xfrm>
            <a:off x="4572000" y="1764720"/>
            <a:ext cx="6948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src/noel.c · thread_noel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25"/>
          <p:cNvSpPr/>
          <p:nvPr/>
        </p:nvSpPr>
        <p:spPr>
          <a:xfrm>
            <a:off x="4553640" y="2057400"/>
            <a:ext cx="6984720" cy="34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89  int renas_ok = o-&gt;renas_prontas == NUM_RENAS &amp;&amp; !o-&gt;viagem_iniciada;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90  int elfos_ok = o-&gt;proximo_grupo &lt; o-&gt;grupos_fechados;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100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if (!liberado || (!renas_ok &amp;&amp; !elfos_ok)) 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101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int rc = pthread_cond_timedwait(&amp;o-&gt;cv_noel, &amp;o-&gt;mutex, &amp;limite);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117  int escolhe_renas = c-&gt;ingenua ? !elfos_ok : renas_ok;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    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123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if (escolhe_renas) 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124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o-&gt;estado = NOEL_PREPARANDO;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125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registrar(o, PART_NOEL, 0, EV_DECISAO, 0);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126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preparar_viagem(o);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127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} else 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128      int g = o-&gt;proximo_grupo++;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129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o-&gt;estado = NOEL_AJUDANDO;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130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registrar(o, PART_NOEL, 0, EV_DECISAO, g + 1);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131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ajudar_grupo(o, g);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26"/>
          <p:cNvSpPr/>
          <p:nvPr/>
        </p:nvSpPr>
        <p:spPr>
          <a:xfrm>
            <a:off x="4480560" y="5257800"/>
            <a:ext cx="62640" cy="86724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27"/>
          <p:cNvSpPr/>
          <p:nvPr/>
        </p:nvSpPr>
        <p:spPr>
          <a:xfrm>
            <a:off x="4645080" y="5257800"/>
            <a:ext cx="696636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prioridade vem da ordem do teste (linha 117), não do mutex. O mutex só garante que Noel decide sobre um retrato consistente: ninguém muda o estado entre ler e decidir.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28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src/noel.c:85-132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29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5"/>
          <p:cNvSpPr/>
          <p:nvPr/>
        </p:nvSpPr>
        <p:spPr>
          <a:xfrm>
            <a:off x="4096440" y="438840"/>
            <a:ext cx="115992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A ajuda não é interrompida: a rena que chega durante ela só é vista no topo do laço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2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393" name="Rectangle 10"/>
          <p:cNvSpPr/>
          <p:nvPr/>
        </p:nvSpPr>
        <p:spPr>
          <a:xfrm>
            <a:off x="548640" y="1691640"/>
            <a:ext cx="4753440" cy="1388520"/>
          </a:xfrm>
          <a:prstGeom prst="rect">
            <a:avLst/>
          </a:prstGeom>
          <a:solidFill>
            <a:srgbClr val="1e22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11"/>
          <p:cNvSpPr/>
          <p:nvPr/>
        </p:nvSpPr>
        <p:spPr>
          <a:xfrm>
            <a:off x="640080" y="1764720"/>
            <a:ext cx="4570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src/noel.c · ajudar_grupo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12"/>
          <p:cNvSpPr/>
          <p:nvPr/>
        </p:nvSpPr>
        <p:spPr>
          <a:xfrm>
            <a:off x="621720" y="2057400"/>
            <a:ext cx="4607280" cy="12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58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double inicio = gr-&gt;t_inicio;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 59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60  pthread_mutex_unlock(&amp;o-&gt;mutex);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61  dormir_ate_ms(o, inicio + o-&gt;cfg-&gt;ajuda_ms)…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 62  pthread_mutex_lock(&amp;o-&gt;mutex);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3"/>
          <p:cNvSpPr/>
          <p:nvPr/>
        </p:nvSpPr>
        <p:spPr>
          <a:xfrm>
            <a:off x="5577840" y="1691640"/>
            <a:ext cx="603360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Durante a ajuda, Noel solta o mutex e só dorme.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Ele não olha nada: elfos e renas continuam chegando e gravando o estado.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signal da 9ª rena se perde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(Noel não está em cv_noel), mas renas_prontas = 9 fica gravado e é relido na próxima decisão.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4"/>
          <p:cNvSpPr/>
          <p:nvPr/>
        </p:nvSpPr>
        <p:spPr>
          <a:xfrm>
            <a:off x="548640" y="3931920"/>
            <a:ext cx="8215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15"/>
          <p:cNvSpPr/>
          <p:nvPr/>
        </p:nvSpPr>
        <p:spPr>
          <a:xfrm>
            <a:off x="1463040" y="4197240"/>
            <a:ext cx="10148400" cy="16920"/>
          </a:xfrm>
          <a:prstGeom prst="rect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9" name="Rectangle 16"/>
          <p:cNvSpPr/>
          <p:nvPr/>
        </p:nvSpPr>
        <p:spPr>
          <a:xfrm>
            <a:off x="2764080" y="3858840"/>
            <a:ext cx="20520" cy="693360"/>
          </a:xfrm>
          <a:prstGeom prst="rect">
            <a:avLst/>
          </a:prstGeom>
          <a:solidFill>
            <a:srgbClr val="5b4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17"/>
          <p:cNvSpPr/>
          <p:nvPr/>
        </p:nvSpPr>
        <p:spPr>
          <a:xfrm>
            <a:off x="1860840" y="3611880"/>
            <a:ext cx="18273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b4fd6"/>
                </a:solidFill>
                <a:effectLst/>
                <a:uFillTx/>
                <a:latin typeface="Calibri"/>
              </a:rPr>
              <a:t>9ª rena 13,116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18"/>
          <p:cNvSpPr/>
          <p:nvPr/>
        </p:nvSpPr>
        <p:spPr>
          <a:xfrm>
            <a:off x="4361400" y="3858840"/>
            <a:ext cx="20520" cy="69336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Box 19"/>
          <p:cNvSpPr/>
          <p:nvPr/>
        </p:nvSpPr>
        <p:spPr>
          <a:xfrm>
            <a:off x="3458160" y="3611880"/>
            <a:ext cx="18273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aa74"/>
                </a:solidFill>
                <a:effectLst/>
                <a:uFillTx/>
                <a:latin typeface="Calibri"/>
              </a:rPr>
              <a:t>grupo 2 pronto 15,083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20"/>
          <p:cNvSpPr/>
          <p:nvPr/>
        </p:nvSpPr>
        <p:spPr>
          <a:xfrm>
            <a:off x="4617360" y="3858840"/>
            <a:ext cx="20520" cy="69336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21"/>
          <p:cNvSpPr/>
          <p:nvPr/>
        </p:nvSpPr>
        <p:spPr>
          <a:xfrm>
            <a:off x="3713760" y="3364920"/>
            <a:ext cx="18273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b31b2b"/>
                </a:solidFill>
                <a:effectLst/>
                <a:uFillTx/>
                <a:latin typeface="Calibri"/>
              </a:rPr>
              <a:t>decisão 15,398: viagem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Rectangle 22"/>
          <p:cNvSpPr/>
          <p:nvPr/>
        </p:nvSpPr>
        <p:spPr>
          <a:xfrm>
            <a:off x="2140200" y="3968640"/>
            <a:ext cx="2478240" cy="47412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ajuda grupo 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23"/>
          <p:cNvSpPr/>
          <p:nvPr/>
        </p:nvSpPr>
        <p:spPr>
          <a:xfrm>
            <a:off x="4628160" y="3968640"/>
            <a:ext cx="4116960" cy="474120"/>
          </a:xfrm>
          <a:prstGeom prst="rect">
            <a:avLst/>
          </a:prstGeom>
          <a:solidFill>
            <a:srgbClr val="eb68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viagem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Rectangle 24"/>
          <p:cNvSpPr/>
          <p:nvPr/>
        </p:nvSpPr>
        <p:spPr>
          <a:xfrm>
            <a:off x="8758800" y="3968640"/>
            <a:ext cx="2493720" cy="47412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ajuda grupo 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25"/>
          <p:cNvSpPr/>
          <p:nvPr/>
        </p:nvSpPr>
        <p:spPr>
          <a:xfrm>
            <a:off x="1869120" y="44989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9" name="TextBox 26"/>
          <p:cNvSpPr/>
          <p:nvPr/>
        </p:nvSpPr>
        <p:spPr>
          <a:xfrm>
            <a:off x="1503360" y="45536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27"/>
          <p:cNvSpPr/>
          <p:nvPr/>
        </p:nvSpPr>
        <p:spPr>
          <a:xfrm>
            <a:off x="3493080" y="44989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28"/>
          <p:cNvSpPr/>
          <p:nvPr/>
        </p:nvSpPr>
        <p:spPr>
          <a:xfrm>
            <a:off x="3127320" y="45536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29"/>
          <p:cNvSpPr/>
          <p:nvPr/>
        </p:nvSpPr>
        <p:spPr>
          <a:xfrm>
            <a:off x="5117040" y="44989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3" name="TextBox 30"/>
          <p:cNvSpPr/>
          <p:nvPr/>
        </p:nvSpPr>
        <p:spPr>
          <a:xfrm>
            <a:off x="4751280" y="45536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31"/>
          <p:cNvSpPr/>
          <p:nvPr/>
        </p:nvSpPr>
        <p:spPr>
          <a:xfrm>
            <a:off x="6741000" y="44989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32"/>
          <p:cNvSpPr/>
          <p:nvPr/>
        </p:nvSpPr>
        <p:spPr>
          <a:xfrm>
            <a:off x="6375240" y="45536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33"/>
          <p:cNvSpPr/>
          <p:nvPr/>
        </p:nvSpPr>
        <p:spPr>
          <a:xfrm>
            <a:off x="8364960" y="44989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Box 34"/>
          <p:cNvSpPr/>
          <p:nvPr/>
        </p:nvSpPr>
        <p:spPr>
          <a:xfrm>
            <a:off x="7999200" y="45536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35"/>
          <p:cNvSpPr/>
          <p:nvPr/>
        </p:nvSpPr>
        <p:spPr>
          <a:xfrm>
            <a:off x="9988920" y="44989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36"/>
          <p:cNvSpPr/>
          <p:nvPr/>
        </p:nvSpPr>
        <p:spPr>
          <a:xfrm>
            <a:off x="9623160" y="45536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37"/>
          <p:cNvSpPr/>
          <p:nvPr/>
        </p:nvSpPr>
        <p:spPr>
          <a:xfrm>
            <a:off x="11612880" y="44989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38"/>
          <p:cNvSpPr/>
          <p:nvPr/>
        </p:nvSpPr>
        <p:spPr>
          <a:xfrm>
            <a:off x="11247120" y="45536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39"/>
          <p:cNvSpPr/>
          <p:nvPr/>
        </p:nvSpPr>
        <p:spPr>
          <a:xfrm>
            <a:off x="548640" y="5166360"/>
            <a:ext cx="62640" cy="95868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40"/>
          <p:cNvSpPr/>
          <p:nvPr/>
        </p:nvSpPr>
        <p:spPr>
          <a:xfrm>
            <a:off x="713160" y="5166360"/>
            <a:ext cx="1089828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9ª rena chegou em 13,116 ms e Noel só reagiu em 15,398 ms, depois de terminar a ajuda. Na volta, as duas demandas estavam prontas, e a viagem venceu: o grupo 2 esperou mais 5 ms.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41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src/noel.c:58-62, 89-90; verificação em 2026-10-28: ./simulacao --elfos 6 --renas-ms 13 (fora da matriz)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42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5"/>
          <p:cNvSpPr/>
          <p:nvPr/>
        </p:nvSpPr>
        <p:spPr>
          <a:xfrm>
            <a:off x="4096440" y="438840"/>
            <a:ext cx="115992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Antes, junto ou depois: o horário das renas muda quem espera, nunca as regras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4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435" name="TextBox 10"/>
          <p:cNvSpPr/>
          <p:nvPr/>
        </p:nvSpPr>
        <p:spPr>
          <a:xfrm>
            <a:off x="548640" y="1965960"/>
            <a:ext cx="1461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Antes (5 ms)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11"/>
          <p:cNvSpPr/>
          <p:nvPr/>
        </p:nvSpPr>
        <p:spPr>
          <a:xfrm>
            <a:off x="2103120" y="2208240"/>
            <a:ext cx="6307920" cy="16920"/>
          </a:xfrm>
          <a:prstGeom prst="rect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7" name="Rectangle 12"/>
          <p:cNvSpPr/>
          <p:nvPr/>
        </p:nvSpPr>
        <p:spPr>
          <a:xfrm>
            <a:off x="2312640" y="1892880"/>
            <a:ext cx="20520" cy="647640"/>
          </a:xfrm>
          <a:prstGeom prst="rect">
            <a:avLst/>
          </a:prstGeom>
          <a:solidFill>
            <a:srgbClr val="5b4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8" name="Rectangle 13"/>
          <p:cNvSpPr/>
          <p:nvPr/>
        </p:nvSpPr>
        <p:spPr>
          <a:xfrm>
            <a:off x="3684960" y="1892880"/>
            <a:ext cx="20520" cy="64764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9" name="Rectangle 14"/>
          <p:cNvSpPr/>
          <p:nvPr/>
        </p:nvSpPr>
        <p:spPr>
          <a:xfrm>
            <a:off x="4276440" y="1892880"/>
            <a:ext cx="20520" cy="64764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0" name="Rectangle 15"/>
          <p:cNvSpPr/>
          <p:nvPr/>
        </p:nvSpPr>
        <p:spPr>
          <a:xfrm>
            <a:off x="2327040" y="2002680"/>
            <a:ext cx="998640" cy="428400"/>
          </a:xfrm>
          <a:prstGeom prst="rect">
            <a:avLst/>
          </a:prstGeom>
          <a:solidFill>
            <a:srgbClr val="eb68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viagem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Rectangle 16"/>
          <p:cNvSpPr/>
          <p:nvPr/>
        </p:nvSpPr>
        <p:spPr>
          <a:xfrm>
            <a:off x="3700440" y="2002680"/>
            <a:ext cx="604080" cy="42840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17"/>
          <p:cNvSpPr/>
          <p:nvPr/>
        </p:nvSpPr>
        <p:spPr>
          <a:xfrm>
            <a:off x="4307760" y="2002680"/>
            <a:ext cx="605520" cy="42840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18"/>
          <p:cNvSpPr/>
          <p:nvPr/>
        </p:nvSpPr>
        <p:spPr>
          <a:xfrm>
            <a:off x="8686800" y="1874520"/>
            <a:ext cx="2924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Elfos não esperam pelas renas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p95 da espera: 2,10 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19"/>
          <p:cNvSpPr/>
          <p:nvPr/>
        </p:nvSpPr>
        <p:spPr>
          <a:xfrm>
            <a:off x="548640" y="3108960"/>
            <a:ext cx="1461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Junto (10 ms)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ectangle 20"/>
          <p:cNvSpPr/>
          <p:nvPr/>
        </p:nvSpPr>
        <p:spPr>
          <a:xfrm>
            <a:off x="2103120" y="3351240"/>
            <a:ext cx="6307920" cy="16920"/>
          </a:xfrm>
          <a:prstGeom prst="rect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6" name="Rectangle 21"/>
          <p:cNvSpPr/>
          <p:nvPr/>
        </p:nvSpPr>
        <p:spPr>
          <a:xfrm>
            <a:off x="3292920" y="3035880"/>
            <a:ext cx="20520" cy="647640"/>
          </a:xfrm>
          <a:prstGeom prst="rect">
            <a:avLst/>
          </a:prstGeom>
          <a:solidFill>
            <a:srgbClr val="5b4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7" name="Rectangle 22"/>
          <p:cNvSpPr/>
          <p:nvPr/>
        </p:nvSpPr>
        <p:spPr>
          <a:xfrm>
            <a:off x="3683520" y="3035880"/>
            <a:ext cx="20520" cy="64764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8" name="Rectangle 23"/>
          <p:cNvSpPr/>
          <p:nvPr/>
        </p:nvSpPr>
        <p:spPr>
          <a:xfrm>
            <a:off x="4272840" y="3035880"/>
            <a:ext cx="20520" cy="64764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9" name="Rectangle 24"/>
          <p:cNvSpPr/>
          <p:nvPr/>
        </p:nvSpPr>
        <p:spPr>
          <a:xfrm>
            <a:off x="3307320" y="3145680"/>
            <a:ext cx="999720" cy="428400"/>
          </a:xfrm>
          <a:prstGeom prst="rect">
            <a:avLst/>
          </a:prstGeom>
          <a:solidFill>
            <a:srgbClr val="eb68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viagem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Rectangle 25"/>
          <p:cNvSpPr/>
          <p:nvPr/>
        </p:nvSpPr>
        <p:spPr>
          <a:xfrm>
            <a:off x="4311360" y="3145680"/>
            <a:ext cx="604080" cy="42840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Rectangle 26"/>
          <p:cNvSpPr/>
          <p:nvPr/>
        </p:nvSpPr>
        <p:spPr>
          <a:xfrm>
            <a:off x="4918320" y="3145680"/>
            <a:ext cx="605520" cy="42840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27"/>
          <p:cNvSpPr/>
          <p:nvPr/>
        </p:nvSpPr>
        <p:spPr>
          <a:xfrm>
            <a:off x="8686800" y="3017520"/>
            <a:ext cx="2924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b31b2b"/>
                </a:solidFill>
                <a:effectLst/>
                <a:uFillTx/>
                <a:latin typeface="Calibri"/>
              </a:rPr>
              <a:t>Grupo 1 espera a viagem inteira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p95 da espera: 5,20 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28"/>
          <p:cNvSpPr/>
          <p:nvPr/>
        </p:nvSpPr>
        <p:spPr>
          <a:xfrm>
            <a:off x="548640" y="4251960"/>
            <a:ext cx="1461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Depois (30 ms)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29"/>
          <p:cNvSpPr/>
          <p:nvPr/>
        </p:nvSpPr>
        <p:spPr>
          <a:xfrm>
            <a:off x="2103120" y="4494240"/>
            <a:ext cx="6307920" cy="16920"/>
          </a:xfrm>
          <a:prstGeom prst="rect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5" name="Rectangle 30"/>
          <p:cNvSpPr/>
          <p:nvPr/>
        </p:nvSpPr>
        <p:spPr>
          <a:xfrm>
            <a:off x="7239960" y="4178880"/>
            <a:ext cx="20520" cy="647640"/>
          </a:xfrm>
          <a:prstGeom prst="rect">
            <a:avLst/>
          </a:prstGeom>
          <a:solidFill>
            <a:srgbClr val="5b4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6" name="Rectangle 31"/>
          <p:cNvSpPr/>
          <p:nvPr/>
        </p:nvSpPr>
        <p:spPr>
          <a:xfrm>
            <a:off x="3685680" y="4178880"/>
            <a:ext cx="20520" cy="64764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7" name="Rectangle 32"/>
          <p:cNvSpPr/>
          <p:nvPr/>
        </p:nvSpPr>
        <p:spPr>
          <a:xfrm>
            <a:off x="4276080" y="4178880"/>
            <a:ext cx="20520" cy="64764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8" name="Rectangle 33"/>
          <p:cNvSpPr/>
          <p:nvPr/>
        </p:nvSpPr>
        <p:spPr>
          <a:xfrm>
            <a:off x="7259760" y="4288680"/>
            <a:ext cx="1000080" cy="428400"/>
          </a:xfrm>
          <a:prstGeom prst="rect">
            <a:avLst/>
          </a:prstGeom>
          <a:solidFill>
            <a:srgbClr val="eb68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viagem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Rectangle 34"/>
          <p:cNvSpPr/>
          <p:nvPr/>
        </p:nvSpPr>
        <p:spPr>
          <a:xfrm>
            <a:off x="3701880" y="4288680"/>
            <a:ext cx="604080" cy="42840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Rectangle 35"/>
          <p:cNvSpPr/>
          <p:nvPr/>
        </p:nvSpPr>
        <p:spPr>
          <a:xfrm>
            <a:off x="4309200" y="4288680"/>
            <a:ext cx="605520" cy="42840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36"/>
          <p:cNvSpPr/>
          <p:nvPr/>
        </p:nvSpPr>
        <p:spPr>
          <a:xfrm>
            <a:off x="2300400" y="477324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37"/>
          <p:cNvSpPr/>
          <p:nvPr/>
        </p:nvSpPr>
        <p:spPr>
          <a:xfrm>
            <a:off x="1934640" y="482796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Rectangle 38"/>
          <p:cNvSpPr/>
          <p:nvPr/>
        </p:nvSpPr>
        <p:spPr>
          <a:xfrm>
            <a:off x="3286080" y="477324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Box 39"/>
          <p:cNvSpPr/>
          <p:nvPr/>
        </p:nvSpPr>
        <p:spPr>
          <a:xfrm>
            <a:off x="2920320" y="482796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Rectangle 40"/>
          <p:cNvSpPr/>
          <p:nvPr/>
        </p:nvSpPr>
        <p:spPr>
          <a:xfrm>
            <a:off x="4272120" y="477324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6" name="TextBox 41"/>
          <p:cNvSpPr/>
          <p:nvPr/>
        </p:nvSpPr>
        <p:spPr>
          <a:xfrm>
            <a:off x="3906360" y="482796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ectangle 42"/>
          <p:cNvSpPr/>
          <p:nvPr/>
        </p:nvSpPr>
        <p:spPr>
          <a:xfrm>
            <a:off x="5257800" y="477324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Box 43"/>
          <p:cNvSpPr/>
          <p:nvPr/>
        </p:nvSpPr>
        <p:spPr>
          <a:xfrm>
            <a:off x="4892040" y="482796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Rectangle 44"/>
          <p:cNvSpPr/>
          <p:nvPr/>
        </p:nvSpPr>
        <p:spPr>
          <a:xfrm>
            <a:off x="6243480" y="477324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0" name="TextBox 45"/>
          <p:cNvSpPr/>
          <p:nvPr/>
        </p:nvSpPr>
        <p:spPr>
          <a:xfrm>
            <a:off x="5877720" y="482796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Rectangle 46"/>
          <p:cNvSpPr/>
          <p:nvPr/>
        </p:nvSpPr>
        <p:spPr>
          <a:xfrm>
            <a:off x="7229520" y="477324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2" name="TextBox 47"/>
          <p:cNvSpPr/>
          <p:nvPr/>
        </p:nvSpPr>
        <p:spPr>
          <a:xfrm>
            <a:off x="6863760" y="482796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ectangle 48"/>
          <p:cNvSpPr/>
          <p:nvPr/>
        </p:nvSpPr>
        <p:spPr>
          <a:xfrm>
            <a:off x="8215200" y="477324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49"/>
          <p:cNvSpPr/>
          <p:nvPr/>
        </p:nvSpPr>
        <p:spPr>
          <a:xfrm>
            <a:off x="7849440" y="482796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50"/>
          <p:cNvSpPr/>
          <p:nvPr/>
        </p:nvSpPr>
        <p:spPr>
          <a:xfrm>
            <a:off x="8686800" y="4160520"/>
            <a:ext cx="29246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Noel fica ocioso até as renas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p95 da espera: 2,11 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51"/>
          <p:cNvSpPr/>
          <p:nvPr/>
        </p:nvSpPr>
        <p:spPr>
          <a:xfrm>
            <a:off x="2103120" y="5495400"/>
            <a:ext cx="199800" cy="144720"/>
          </a:xfrm>
          <a:prstGeom prst="rect">
            <a:avLst/>
          </a:prstGeom>
          <a:solidFill>
            <a:srgbClr val="eb68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52"/>
          <p:cNvSpPr/>
          <p:nvPr/>
        </p:nvSpPr>
        <p:spPr>
          <a:xfrm>
            <a:off x="2359080" y="5440680"/>
            <a:ext cx="2376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viagem (5 ms)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53"/>
          <p:cNvSpPr/>
          <p:nvPr/>
        </p:nvSpPr>
        <p:spPr>
          <a:xfrm>
            <a:off x="3689640" y="5495400"/>
            <a:ext cx="199800" cy="14472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Box 54"/>
          <p:cNvSpPr/>
          <p:nvPr/>
        </p:nvSpPr>
        <p:spPr>
          <a:xfrm>
            <a:off x="3945600" y="5440680"/>
            <a:ext cx="2376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ajuda (3 ms)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Rectangle 55"/>
          <p:cNvSpPr/>
          <p:nvPr/>
        </p:nvSpPr>
        <p:spPr>
          <a:xfrm>
            <a:off x="5198400" y="5495400"/>
            <a:ext cx="199800" cy="144720"/>
          </a:xfrm>
          <a:prstGeom prst="rect">
            <a:avLst/>
          </a:prstGeom>
          <a:solidFill>
            <a:srgbClr val="5b4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1" name="TextBox 56"/>
          <p:cNvSpPr/>
          <p:nvPr/>
        </p:nvSpPr>
        <p:spPr>
          <a:xfrm>
            <a:off x="5454360" y="5440680"/>
            <a:ext cx="2376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9ª rena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57"/>
          <p:cNvSpPr/>
          <p:nvPr/>
        </p:nvSpPr>
        <p:spPr>
          <a:xfrm>
            <a:off x="6318360" y="5495400"/>
            <a:ext cx="199800" cy="14472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Box 58"/>
          <p:cNvSpPr/>
          <p:nvPr/>
        </p:nvSpPr>
        <p:spPr>
          <a:xfrm>
            <a:off x="6574680" y="5440680"/>
            <a:ext cx="2376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grupo pronto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59"/>
          <p:cNvSpPr/>
          <p:nvPr/>
        </p:nvSpPr>
        <p:spPr>
          <a:xfrm>
            <a:off x="548640" y="5852160"/>
            <a:ext cx="110628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Grupos ficam prontos em ≈12 e ≈15 ms. Só no caso “junto” a viagem cai em cima da formação do 1º grupo, e é aí que os elfos pagam a prioridade.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60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dados/eventos.csv (repetição 1 de E06_R05, E06_R10 e E06_R30); dados/tabela_esperas.csv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Box 61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5"/>
          <p:cNvSpPr/>
          <p:nvPr/>
        </p:nvSpPr>
        <p:spPr>
          <a:xfrm>
            <a:off x="4096440" y="438840"/>
            <a:ext cx="115992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2" name="TextBox 6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Com os mesmos mecanismos, só a regra de decisão separa a versão correta da ingênua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5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496" name="TextBox 10"/>
          <p:cNvSpPr/>
          <p:nvPr/>
        </p:nvSpPr>
        <p:spPr>
          <a:xfrm>
            <a:off x="548640" y="2240280"/>
            <a:ext cx="10958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Correta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Rectangle 11"/>
          <p:cNvSpPr/>
          <p:nvPr/>
        </p:nvSpPr>
        <p:spPr>
          <a:xfrm>
            <a:off x="1737360" y="2482560"/>
            <a:ext cx="6399360" cy="16920"/>
          </a:xfrm>
          <a:prstGeom prst="rect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8" name="Rectangle 12"/>
          <p:cNvSpPr/>
          <p:nvPr/>
        </p:nvSpPr>
        <p:spPr>
          <a:xfrm>
            <a:off x="5693760" y="2167200"/>
            <a:ext cx="20520" cy="647640"/>
          </a:xfrm>
          <a:prstGeom prst="rect">
            <a:avLst/>
          </a:prstGeom>
          <a:solidFill>
            <a:srgbClr val="5b4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9" name="TextBox 13"/>
          <p:cNvSpPr/>
          <p:nvPr/>
        </p:nvSpPr>
        <p:spPr>
          <a:xfrm>
            <a:off x="4790520" y="1920240"/>
            <a:ext cx="18273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b4fd6"/>
                </a:solidFill>
                <a:effectLst/>
                <a:uFillTx/>
                <a:latin typeface="Calibri"/>
              </a:rPr>
              <a:t>9ª rena 30,5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Rectangle 14"/>
          <p:cNvSpPr/>
          <p:nvPr/>
        </p:nvSpPr>
        <p:spPr>
          <a:xfrm>
            <a:off x="2125800" y="2167200"/>
            <a:ext cx="20520" cy="64764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15"/>
          <p:cNvSpPr/>
          <p:nvPr/>
        </p:nvSpPr>
        <p:spPr>
          <a:xfrm>
            <a:off x="1222560" y="1920240"/>
            <a:ext cx="18273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aa74"/>
                </a:solidFill>
                <a:effectLst/>
                <a:uFillTx/>
                <a:latin typeface="Calibri"/>
              </a:rPr>
              <a:t>g1 pronto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Rectangle 16"/>
          <p:cNvSpPr/>
          <p:nvPr/>
        </p:nvSpPr>
        <p:spPr>
          <a:xfrm>
            <a:off x="2707560" y="2167200"/>
            <a:ext cx="20520" cy="64764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3" name="TextBox 17"/>
          <p:cNvSpPr/>
          <p:nvPr/>
        </p:nvSpPr>
        <p:spPr>
          <a:xfrm>
            <a:off x="1804320" y="1673280"/>
            <a:ext cx="18273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baa74"/>
                </a:solidFill>
                <a:effectLst/>
                <a:uFillTx/>
                <a:latin typeface="Calibri"/>
              </a:rPr>
              <a:t>g2 pronto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Rectangle 18"/>
          <p:cNvSpPr/>
          <p:nvPr/>
        </p:nvSpPr>
        <p:spPr>
          <a:xfrm>
            <a:off x="5708520" y="2277000"/>
            <a:ext cx="996120" cy="428400"/>
          </a:xfrm>
          <a:prstGeom prst="rect">
            <a:avLst/>
          </a:prstGeom>
          <a:solidFill>
            <a:srgbClr val="eb68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viagem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Rectangle 19"/>
          <p:cNvSpPr/>
          <p:nvPr/>
        </p:nvSpPr>
        <p:spPr>
          <a:xfrm>
            <a:off x="6714720" y="2277000"/>
            <a:ext cx="601560" cy="42840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Rectangle 20"/>
          <p:cNvSpPr/>
          <p:nvPr/>
        </p:nvSpPr>
        <p:spPr>
          <a:xfrm>
            <a:off x="7327800" y="2277000"/>
            <a:ext cx="598680" cy="42840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21"/>
          <p:cNvSpPr/>
          <p:nvPr/>
        </p:nvSpPr>
        <p:spPr>
          <a:xfrm>
            <a:off x="548640" y="3291840"/>
            <a:ext cx="10958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Ingênua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Rectangle 22"/>
          <p:cNvSpPr/>
          <p:nvPr/>
        </p:nvSpPr>
        <p:spPr>
          <a:xfrm>
            <a:off x="1737360" y="3534120"/>
            <a:ext cx="6399360" cy="16920"/>
          </a:xfrm>
          <a:prstGeom prst="rect">
            <a:avLst/>
          </a:prstGeom>
          <a:solidFill>
            <a:srgbClr val="d3d5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9" name="Rectangle 23"/>
          <p:cNvSpPr/>
          <p:nvPr/>
        </p:nvSpPr>
        <p:spPr>
          <a:xfrm>
            <a:off x="5626080" y="3218760"/>
            <a:ext cx="20520" cy="647640"/>
          </a:xfrm>
          <a:prstGeom prst="rect">
            <a:avLst/>
          </a:prstGeom>
          <a:solidFill>
            <a:srgbClr val="5b4f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0" name="Rectangle 24"/>
          <p:cNvSpPr/>
          <p:nvPr/>
        </p:nvSpPr>
        <p:spPr>
          <a:xfrm>
            <a:off x="2129400" y="3218760"/>
            <a:ext cx="20520" cy="64764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1" name="Rectangle 25"/>
          <p:cNvSpPr/>
          <p:nvPr/>
        </p:nvSpPr>
        <p:spPr>
          <a:xfrm>
            <a:off x="2710080" y="3218760"/>
            <a:ext cx="20520" cy="647640"/>
          </a:xfrm>
          <a:prstGeom prst="rect">
            <a:avLst/>
          </a:prstGeom>
          <a:solidFill>
            <a:srgbClr val="1baa7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2" name="Rectangle 26"/>
          <p:cNvSpPr/>
          <p:nvPr/>
        </p:nvSpPr>
        <p:spPr>
          <a:xfrm>
            <a:off x="6828840" y="3328560"/>
            <a:ext cx="980280" cy="428400"/>
          </a:xfrm>
          <a:prstGeom prst="rect">
            <a:avLst/>
          </a:prstGeom>
          <a:solidFill>
            <a:srgbClr val="eb68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viagem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Rectangle 27"/>
          <p:cNvSpPr/>
          <p:nvPr/>
        </p:nvSpPr>
        <p:spPr>
          <a:xfrm>
            <a:off x="5638680" y="3328560"/>
            <a:ext cx="591840" cy="42840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Rectangle 28"/>
          <p:cNvSpPr/>
          <p:nvPr/>
        </p:nvSpPr>
        <p:spPr>
          <a:xfrm>
            <a:off x="6234840" y="3328560"/>
            <a:ext cx="591840" cy="428400"/>
          </a:xfrm>
          <a:prstGeom prst="rect">
            <a:avLst/>
          </a:prstGeom>
          <a:solidFill>
            <a:srgbClr val="2a78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Rectangle 29"/>
          <p:cNvSpPr/>
          <p:nvPr/>
        </p:nvSpPr>
        <p:spPr>
          <a:xfrm>
            <a:off x="1737360" y="38131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6" name="TextBox 30"/>
          <p:cNvSpPr/>
          <p:nvPr/>
        </p:nvSpPr>
        <p:spPr>
          <a:xfrm>
            <a:off x="1371600" y="38678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Rectangle 31"/>
          <p:cNvSpPr/>
          <p:nvPr/>
        </p:nvSpPr>
        <p:spPr>
          <a:xfrm>
            <a:off x="2707200" y="38131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8" name="TextBox 32"/>
          <p:cNvSpPr/>
          <p:nvPr/>
        </p:nvSpPr>
        <p:spPr>
          <a:xfrm>
            <a:off x="2341440" y="38678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Rectangle 33"/>
          <p:cNvSpPr/>
          <p:nvPr/>
        </p:nvSpPr>
        <p:spPr>
          <a:xfrm>
            <a:off x="3677040" y="38131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0" name="TextBox 34"/>
          <p:cNvSpPr/>
          <p:nvPr/>
        </p:nvSpPr>
        <p:spPr>
          <a:xfrm>
            <a:off x="3311280" y="38678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Rectangle 35"/>
          <p:cNvSpPr/>
          <p:nvPr/>
        </p:nvSpPr>
        <p:spPr>
          <a:xfrm>
            <a:off x="4646880" y="38131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2" name="TextBox 36"/>
          <p:cNvSpPr/>
          <p:nvPr/>
        </p:nvSpPr>
        <p:spPr>
          <a:xfrm>
            <a:off x="4281120" y="38678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Rectangle 37"/>
          <p:cNvSpPr/>
          <p:nvPr/>
        </p:nvSpPr>
        <p:spPr>
          <a:xfrm>
            <a:off x="5616720" y="38131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Box 38"/>
          <p:cNvSpPr/>
          <p:nvPr/>
        </p:nvSpPr>
        <p:spPr>
          <a:xfrm>
            <a:off x="5250960" y="38678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39"/>
          <p:cNvSpPr/>
          <p:nvPr/>
        </p:nvSpPr>
        <p:spPr>
          <a:xfrm>
            <a:off x="6586560" y="38131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Box 40"/>
          <p:cNvSpPr/>
          <p:nvPr/>
        </p:nvSpPr>
        <p:spPr>
          <a:xfrm>
            <a:off x="6220800" y="38678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Rectangle 41"/>
          <p:cNvSpPr/>
          <p:nvPr/>
        </p:nvSpPr>
        <p:spPr>
          <a:xfrm>
            <a:off x="7556400" y="3813120"/>
            <a:ext cx="7560" cy="62640"/>
          </a:xfrm>
          <a:prstGeom prst="rect">
            <a:avLst/>
          </a:prstGeom>
          <a:solidFill>
            <a:srgbClr val="8a8c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8" name="TextBox 42"/>
          <p:cNvSpPr/>
          <p:nvPr/>
        </p:nvSpPr>
        <p:spPr>
          <a:xfrm>
            <a:off x="7190640" y="3867840"/>
            <a:ext cx="730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29" name="Table 43"/>
          <p:cNvGraphicFramePr/>
          <p:nvPr/>
        </p:nvGraphicFramePr>
        <p:xfrm>
          <a:off x="8412480" y="1783080"/>
          <a:ext cx="3245760" cy="2057400"/>
        </p:xfrm>
        <a:graphic>
          <a:graphicData uri="http://schemas.openxmlformats.org/drawingml/2006/table">
            <a:tbl>
              <a:tblPr/>
              <a:tblGrid>
                <a:gridCol w="1417320"/>
                <a:gridCol w="914400"/>
                <a:gridCol w="914400"/>
              </a:tblGrid>
              <a:tr h="411480">
                <a:tc>
                  <a:txBody>
                    <a:bodyPr lIns="63720" rIns="63720" tIns="27360" bIns="27360" anchor="ctr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Correta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Ingênua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d3a"/>
                    </a:solidFill>
                  </a:tcPr>
                </a:tc>
              </a:tr>
              <a:tr h="41148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1ª decisão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renas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b31b2b"/>
                          </a:solidFill>
                          <a:effectLst/>
                          <a:uFillTx/>
                          <a:latin typeface="Calibri"/>
                        </a:rPr>
                        <a:t>elfos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Violações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b31b2b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  <a:tr h="41148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Resposta às renas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18 µs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6,1 ms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Resultado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PASSOU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  <a:tc>
                  <a:txBody>
                    <a:bodyPr lIns="63720" rIns="6372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FALHOU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720" marR="63720" marT="27360" marB="27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3f4f2"/>
                    </a:solidFill>
                  </a:tcPr>
                </a:tc>
              </a:tr>
            </a:tbl>
          </a:graphicData>
        </a:graphic>
      </p:graphicFrame>
      <p:sp>
        <p:nvSpPr>
          <p:cNvPr id="530" name="Rectangle 44"/>
          <p:cNvSpPr/>
          <p:nvPr/>
        </p:nvSpPr>
        <p:spPr>
          <a:xfrm>
            <a:off x="548640" y="4526280"/>
            <a:ext cx="7588080" cy="730080"/>
          </a:xfrm>
          <a:prstGeom prst="rect">
            <a:avLst/>
          </a:prstGeom>
          <a:solidFill>
            <a:srgbClr val="1e22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Box 45"/>
          <p:cNvSpPr/>
          <p:nvPr/>
        </p:nvSpPr>
        <p:spPr>
          <a:xfrm>
            <a:off x="621720" y="4599360"/>
            <a:ext cx="744192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2c94c"/>
                </a:solidFill>
                <a:effectLst/>
                <a:uFillTx/>
                <a:latin typeface="Courier New"/>
              </a:rPr>
              <a:t>117  int escolhe_renas = c-&gt;ingenua ? !elfos_ok : renas_ok;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118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if (!escolhe_renas &amp;&amp; renas_ok)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e8680"/>
                </a:solidFill>
                <a:effectLst/>
                <a:uFillTx/>
                <a:latin typeface="Courier New"/>
              </a:rPr>
              <a:t>119  </a:t>
            </a:r>
            <a:r>
              <a:rPr lang="en-US" sz="1200" b="0" u="none" strike="noStrike">
                <a:solidFill>
                  <a:srgbClr val="e6e8e4"/>
                </a:solidFill>
                <a:effectLst/>
                <a:uFillTx/>
                <a:latin typeface="Courier New"/>
              </a:rPr>
              <a:t>    o-&gt;violacoes_prioridade++; /* elfos com as 9 renas prontas */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46"/>
          <p:cNvSpPr/>
          <p:nvPr/>
        </p:nvSpPr>
        <p:spPr>
          <a:xfrm>
            <a:off x="8412480" y="4023360"/>
            <a:ext cx="31989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--teste-prioridade segura Noel até as duas demandas estarem prontas (noel.c:94-98), forçando a disputa que a matriz não produz.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47"/>
          <p:cNvSpPr/>
          <p:nvPr/>
        </p:nvSpPr>
        <p:spPr>
          <a:xfrm>
            <a:off x="548640" y="5440680"/>
            <a:ext cx="62640" cy="68436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4" name="TextBox 48"/>
          <p:cNvSpPr/>
          <p:nvPr/>
        </p:nvSpPr>
        <p:spPr>
          <a:xfrm>
            <a:off x="713160" y="5440680"/>
            <a:ext cx="1089828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Ter mutex e cond vars não garante a prioridade: a versão ingênua usa os mesmos mecanismos e viola a regra. O detector de violações funciona, já que contou 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49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dados/teste_prioridade/ e dados/ingenua/ (eventos.csv, resumo.csv, saida.txt); src/noel.c:94-98, 117-119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50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5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Rectangle 6"/>
          <p:cNvSpPr/>
          <p:nvPr/>
        </p:nvSpPr>
        <p:spPr>
          <a:xfrm>
            <a:off x="5623560" y="438840"/>
            <a:ext cx="107748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3" name="TextBox 7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Não há deadlock nem starvation na versão finita; uma versão contínua precisaria de aging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5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sp>
        <p:nvSpPr>
          <p:cNvPr id="546" name="Rectangle 10"/>
          <p:cNvSpPr/>
          <p:nvPr/>
        </p:nvSpPr>
        <p:spPr>
          <a:xfrm>
            <a:off x="548640" y="1691640"/>
            <a:ext cx="3564720" cy="45576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Deadlock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11"/>
          <p:cNvSpPr/>
          <p:nvPr/>
        </p:nvSpPr>
        <p:spPr>
          <a:xfrm>
            <a:off x="594360" y="2240280"/>
            <a:ext cx="34732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threads esperando umas pelas outras para sempre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12"/>
          <p:cNvSpPr/>
          <p:nvPr/>
        </p:nvSpPr>
        <p:spPr>
          <a:xfrm>
            <a:off x="594360" y="2926080"/>
            <a:ext cx="34732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Precisa das 4 condições de Coffman juntas, incluindo espera circular.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Com 1 mutex não há ciclo entre locks; quem faz cond_wait solta o mutex.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Todo predicado tem quem o torne verdadeiro e avise.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Rectangle 13"/>
          <p:cNvSpPr/>
          <p:nvPr/>
        </p:nvSpPr>
        <p:spPr>
          <a:xfrm>
            <a:off x="548640" y="4892040"/>
            <a:ext cx="3564720" cy="41004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não ocorre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Rectangle 14"/>
          <p:cNvSpPr/>
          <p:nvPr/>
        </p:nvSpPr>
        <p:spPr>
          <a:xfrm>
            <a:off x="4297680" y="1691640"/>
            <a:ext cx="3564720" cy="45576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Starvation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15"/>
          <p:cNvSpPr/>
          <p:nvPr/>
        </p:nvSpPr>
        <p:spPr>
          <a:xfrm>
            <a:off x="4343400" y="2240280"/>
            <a:ext cx="34732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uma thread nunca progride porque outras passam na frente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Box 16"/>
          <p:cNvSpPr/>
          <p:nvPr/>
        </p:nvSpPr>
        <p:spPr>
          <a:xfrm>
            <a:off x="4379400" y="2926080"/>
            <a:ext cx="34732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Finita: 1 viagem de 5 ms; grupos em FIFO (proximo_grupo++, noel.c:128).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Contínua: renas sempre primeiro podem deixar elfos esperando para sempre.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Mitigação: aging ou cota de grupos entre viagens.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Rectangle 17"/>
          <p:cNvSpPr/>
          <p:nvPr/>
        </p:nvSpPr>
        <p:spPr>
          <a:xfrm>
            <a:off x="4297680" y="4892040"/>
            <a:ext cx="3564720" cy="41004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não na versão finita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Rectangle 18"/>
          <p:cNvSpPr/>
          <p:nvPr/>
        </p:nvSpPr>
        <p:spPr>
          <a:xfrm>
            <a:off x="8046720" y="1691640"/>
            <a:ext cx="3564720" cy="45576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Espera ocupada e corrida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Box 19"/>
          <p:cNvSpPr/>
          <p:nvPr/>
        </p:nvSpPr>
        <p:spPr>
          <a:xfrm>
            <a:off x="8092440" y="2240280"/>
            <a:ext cx="34732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gastar CPU testando em laço; resultado dependente da ordem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20"/>
          <p:cNvSpPr/>
          <p:nvPr/>
        </p:nvSpPr>
        <p:spPr>
          <a:xfrm>
            <a:off x="8092440" y="2926080"/>
            <a:ext cx="3473280" cy="21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Os sleeps só simulam durações; esperas usam cond vars.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Corrida descartada por inspeção: todo acesso mutável com o mutex.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TSan e Helgrind não estavam instalados: não verificado por ferramenta.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Rectangle 21"/>
          <p:cNvSpPr/>
          <p:nvPr/>
        </p:nvSpPr>
        <p:spPr>
          <a:xfrm>
            <a:off x="8046720" y="4892040"/>
            <a:ext cx="3564720" cy="410040"/>
          </a:xfrm>
          <a:prstGeom prst="rect">
            <a:avLst/>
          </a:prstGeom>
          <a:solidFill>
            <a:srgbClr val="f3f4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descartadas por inspeção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Box 23"/>
          <p:cNvSpPr/>
          <p:nvPr/>
        </p:nvSpPr>
        <p:spPr>
          <a:xfrm>
            <a:off x="713160" y="5486400"/>
            <a:ext cx="108982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24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src/noel.c:101-106, 128; vault: Riscos de Sincronização (Papai Noel)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25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5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6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Rectangle 7"/>
          <p:cNvSpPr/>
          <p:nvPr/>
        </p:nvSpPr>
        <p:spPr>
          <a:xfrm>
            <a:off x="7068240" y="438840"/>
            <a:ext cx="91296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Mais elfos diluem o custo fixo inicial: a vazão sobe de 163 para 436 pedidos/s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9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pic>
        <p:nvPicPr>
          <p:cNvPr id="570" name="Picture 10" descr="G1_vazao_elfos.png"/>
          <p:cNvPicPr/>
          <p:nvPr/>
        </p:nvPicPr>
        <p:blipFill>
          <a:blip r:embed="rId1"/>
          <a:stretch/>
        </p:blipFill>
        <p:spPr>
          <a:xfrm>
            <a:off x="548640" y="1645920"/>
            <a:ext cx="6886440" cy="452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TextBox 11"/>
          <p:cNvSpPr/>
          <p:nvPr/>
        </p:nvSpPr>
        <p:spPr>
          <a:xfrm>
            <a:off x="7680960" y="1691640"/>
            <a:ext cx="3930480" cy="34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Fixo: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renas em 10 ms; 5 execuções por ponto.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Variou: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3, 6 e 12 elfos (eixo X).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Eixo Y: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pedidos de elfos atendidos por segundo.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Por quê: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há um custo fixo de ≈15 ms (10 ms até o 1º elfo + 5 ms de viagem). Depois, a fila FIFO atende um grupo atrás do outro: T ≈ 15 + 3·(N/3) ms.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Box 13"/>
          <p:cNvSpPr/>
          <p:nvPr/>
        </p:nvSpPr>
        <p:spPr>
          <a:xfrm>
            <a:off x="7845480" y="5474520"/>
            <a:ext cx="376596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14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graficos/G1_vazao_elfos.png; dados/tabela_esperas.csv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15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5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Box 6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Rectangle 7"/>
          <p:cNvSpPr/>
          <p:nvPr/>
        </p:nvSpPr>
        <p:spPr>
          <a:xfrm>
            <a:off x="7068240" y="438840"/>
            <a:ext cx="91296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2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Só com as renas junto os elfos pagam a prioridade: p95 de 2,1 para 5,2 ms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83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pic>
        <p:nvPicPr>
          <p:cNvPr id="584" name="Picture 10" descr="G2_p95_renas.png"/>
          <p:cNvPicPr/>
          <p:nvPr/>
        </p:nvPicPr>
        <p:blipFill>
          <a:blip r:embed="rId1"/>
          <a:stretch/>
        </p:blipFill>
        <p:spPr>
          <a:xfrm>
            <a:off x="548640" y="1600200"/>
            <a:ext cx="7862400" cy="344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TextBox 11"/>
          <p:cNvSpPr/>
          <p:nvPr/>
        </p:nvSpPr>
        <p:spPr>
          <a:xfrm>
            <a:off x="8686800" y="1691640"/>
            <a:ext cx="2924640" cy="35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Esquerda: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p95 da espera dos elfos por cenário (categorias, sem linha).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Direita: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resposta às renas, em µs.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Por quê: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só no caso “junto” a viagem (≈10–15 ms) cai em cima da formação do 1º grupo (≈12 ms). Nos outros, Noel está livre quando cada grupo fecha.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Rectangle 12"/>
          <p:cNvSpPr/>
          <p:nvPr/>
        </p:nvSpPr>
        <p:spPr>
          <a:xfrm>
            <a:off x="548640" y="5166360"/>
            <a:ext cx="62640" cy="95868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7" name="TextBox 13"/>
          <p:cNvSpPr/>
          <p:nvPr/>
        </p:nvSpPr>
        <p:spPr>
          <a:xfrm>
            <a:off x="713160" y="5413680"/>
            <a:ext cx="10898280" cy="46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As renas são atendidas em ≈18–21 µs em qualquer cenário: o preço da prioridade é ~3 ms a mais para todos os elfos, porque a viagem atrasa o 1º grupo e o atraso se propaga para os seguintes.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Box 14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graficos/G2_p95_renas.png; dados/tabela_esperas.csv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Box 15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Box 5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6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Rectangle 7"/>
          <p:cNvSpPr/>
          <p:nvPr/>
        </p:nvSpPr>
        <p:spPr>
          <a:xfrm>
            <a:off x="7068240" y="438840"/>
            <a:ext cx="91296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7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Os dois grupos esperam o mesmo (5,12 × 5,20 ms): o atraso da viagem se propaga sem crescer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8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pic>
        <p:nvPicPr>
          <p:cNvPr id="599" name="Picture 10" descr="G3_p95_grupo.png"/>
          <p:cNvPicPr/>
          <p:nvPr/>
        </p:nvPicPr>
        <p:blipFill>
          <a:blip r:embed="rId1"/>
          <a:stretch/>
        </p:blipFill>
        <p:spPr>
          <a:xfrm>
            <a:off x="548640" y="1645920"/>
            <a:ext cx="6886440" cy="452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TextBox 11"/>
          <p:cNvSpPr/>
          <p:nvPr/>
        </p:nvSpPr>
        <p:spPr>
          <a:xfrm>
            <a:off x="7680960" y="1691640"/>
            <a:ext cx="3930480" cy="34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Fixo: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referência (6 elfos, renas junto).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Variou: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grupo atendido; 5 execuções × 3 elfos = 15 amostras por grupo.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Por quê: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grupo 1 espera o fim da viagem; o grupo 2 espera o fim da ajuda ao grupo 1. Como os grupos chegam a cada 3 ms e cada ajuda dura 3 ms, o atraso passa adiante sem acumular.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13"/>
          <p:cNvSpPr/>
          <p:nvPr/>
        </p:nvSpPr>
        <p:spPr>
          <a:xfrm>
            <a:off x="7845480" y="5120640"/>
            <a:ext cx="376596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Box 14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graficos/G3_p95_grupo.png; dados/espera_elfos.csv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Box 15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TextBox 1"/>
          <p:cNvSpPr/>
          <p:nvPr/>
        </p:nvSpPr>
        <p:spPr>
          <a:xfrm>
            <a:off x="548640" y="182880"/>
            <a:ext cx="13611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Fundamentos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2"/>
          <p:cNvSpPr/>
          <p:nvPr/>
        </p:nvSpPr>
        <p:spPr>
          <a:xfrm>
            <a:off x="1911240" y="182880"/>
            <a:ext cx="1114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Problema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Box 3"/>
          <p:cNvSpPr/>
          <p:nvPr/>
        </p:nvSpPr>
        <p:spPr>
          <a:xfrm>
            <a:off x="3026520" y="182880"/>
            <a:ext cx="103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Solução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4"/>
          <p:cNvSpPr/>
          <p:nvPr/>
        </p:nvSpPr>
        <p:spPr>
          <a:xfrm>
            <a:off x="4060080" y="182880"/>
            <a:ext cx="15256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Sincronização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Box 5"/>
          <p:cNvSpPr/>
          <p:nvPr/>
        </p:nvSpPr>
        <p:spPr>
          <a:xfrm>
            <a:off x="5586840" y="182880"/>
            <a:ext cx="14432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Propriedades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6"/>
          <p:cNvSpPr/>
          <p:nvPr/>
        </p:nvSpPr>
        <p:spPr>
          <a:xfrm>
            <a:off x="7031880" y="182880"/>
            <a:ext cx="12787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4d3a"/>
                </a:solidFill>
                <a:effectLst/>
                <a:uFillTx/>
                <a:latin typeface="Calibri"/>
              </a:rPr>
              <a:t>Resultados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Rectangle 7"/>
          <p:cNvSpPr/>
          <p:nvPr/>
        </p:nvSpPr>
        <p:spPr>
          <a:xfrm>
            <a:off x="7068240" y="438840"/>
            <a:ext cx="912960" cy="30600"/>
          </a:xfrm>
          <a:prstGeom prst="rect">
            <a:avLst/>
          </a:prstGeom>
          <a:solidFill>
            <a:srgbClr val="1f4d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1" name="TextBox 8"/>
          <p:cNvSpPr/>
          <p:nvPr/>
        </p:nvSpPr>
        <p:spPr>
          <a:xfrm>
            <a:off x="548640" y="567000"/>
            <a:ext cx="1106280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1f4d3a"/>
                </a:solidFill>
                <a:effectLst/>
                <a:uFillTx/>
                <a:latin typeface="Cambria"/>
              </a:rPr>
              <a:t>Na linha do tempo, os grupos ficam prontos durante a viagem e esperam sem interrompê-la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2" name="Connector 9"/>
          <p:cNvCxnSpPr/>
          <p:nvPr/>
        </p:nvCxnSpPr>
        <p:spPr>
          <a:xfrm>
            <a:off x="548640" y="1481040"/>
            <a:ext cx="11093040" cy="1440"/>
          </a:xfrm>
          <a:prstGeom prst="straightConnector1">
            <a:avLst/>
          </a:prstGeom>
          <a:ln w="9525">
            <a:solidFill>
              <a:srgbClr val="d3d5d0"/>
            </a:solidFill>
            <a:round/>
          </a:ln>
        </p:spPr>
      </p:cxnSp>
      <p:pic>
        <p:nvPicPr>
          <p:cNvPr id="613" name="Picture 10" descr="G4_linha_tempo.png"/>
          <p:cNvPicPr/>
          <p:nvPr/>
        </p:nvPicPr>
        <p:blipFill>
          <a:blip r:embed="rId1"/>
          <a:stretch/>
        </p:blipFill>
        <p:spPr>
          <a:xfrm>
            <a:off x="548640" y="1554480"/>
            <a:ext cx="8502480" cy="340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4" name="TextBox 11"/>
          <p:cNvSpPr/>
          <p:nvPr/>
        </p:nvSpPr>
        <p:spPr>
          <a:xfrm>
            <a:off x="9235440" y="1691640"/>
            <a:ext cx="2376000" cy="365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Linha Noel: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estado ao longo do tempo (cinza, laranja, azul).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Linhas dos grupos: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hachura = pronto e esperando; azul claro = em ajuda.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Marcas: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9ª rena (roxo) e grupos prontos (verde tracejado).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Rectangle 12"/>
          <p:cNvSpPr/>
          <p:nvPr/>
        </p:nvSpPr>
        <p:spPr>
          <a:xfrm>
            <a:off x="548640" y="5257800"/>
            <a:ext cx="62640" cy="867240"/>
          </a:xfrm>
          <a:prstGeom prst="rect">
            <a:avLst/>
          </a:prstGeom>
          <a:solidFill>
            <a:srgbClr val="b31b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6" name="TextBox 13"/>
          <p:cNvSpPr/>
          <p:nvPr/>
        </p:nvSpPr>
        <p:spPr>
          <a:xfrm>
            <a:off x="713160" y="5257800"/>
            <a:ext cx="1089828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Grupos prontos em 12,07 e 15,06 ms, durante a viagem (10,11–15,19 ms): entram na fila e a preparação segue até o fim. Depois, Noel fica ocupado sem pausa.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14"/>
          <p:cNvSpPr/>
          <p:nvPr/>
        </p:nvSpPr>
        <p:spPr>
          <a:xfrm>
            <a:off x="548640" y="6428160"/>
            <a:ext cx="9599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Fonte: graficos/G4_linha_tempo.png; dados/eventos.csv (E06_R10_rep1)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Box 15"/>
          <p:cNvSpPr/>
          <p:nvPr/>
        </p:nvSpPr>
        <p:spPr>
          <a:xfrm>
            <a:off x="10972800" y="6428160"/>
            <a:ext cx="6660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a8c88"/>
                </a:solidFill>
                <a:effectLst/>
                <a:uFillTx/>
                <a:latin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Application>LibreOffice/25.8.7.3$Linux_X86_64 LibreOffice_project/580$Build-3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2026-10-29T10:17:06Z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